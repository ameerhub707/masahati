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Masahati — the first shared-workspace discovery and booking platform built for Gaza. This deck reviews what we have built so far, the technology behind it, and the roadmap ahead. Prepared for students and supervisors.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Gaza lacks a single place to discover and compare shared workspaces. Students and freelancers cannot easily compare price, internet speed, or electricity availability. Booking is manual and fragmented. Space owners have no trusted channel to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Masahati brings everything into one Arabic-first experience: discover all spaces in one place, compare what actually matters (price, internet, electricity), and book a seat with one click — no phone calls, no scattered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core capabilities are already implemented: full Arabic RTL UI, responsive design with 44px touch targets, role-based accounts, a secure OTP password-recovery flow (email or WhatsApp), visual ownership verification, and a fast booking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landing page: an animated hero with a clear value proposition, live count-up statistics on scroll, sections for features / how it works / roles / about, and a liquid-glass navbar that appears on scroll. Fully responsive and respects reduced-motion preferences.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 flow: a polished login card (email/phone + password, remember me, show/hide), a multi-step sign-up with role selection and ownership-document upload, and a 3-step forgot-password wizard with OTP delivered by email or WhatsApp. Error slots use reserved height so the form never jumps.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roles. Students discover, compare, and book immediately after verification. Space owners list their space, attach a proof-of-ownership document, and wait for admin approval before going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stack: React 19 + Vite 8 + Tailwind v4 + React Router 7 on the frontend. The backend will be Laravel + MySQL with real authentication via a REST API. Quality gates (build + lint) are green and the bundle is ~101KB gzipped. RTL and responsive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and security were verified, not assumed: build and lint pass, npm audit reports zero vulnerabilities, the UI is responsive with 44px touch targets and no-iOS-zoom inputs, and reduced-motion is respected. We also removed a password console.log leak and fixed validation layout shift by reserving constant error-slot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the frontend and a mock auth layer are done today. Next we connect Laravel/MySQL for real authentication, then add space browsing with filters and maps, then a full dashboard, and eventually payments with live seat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to our supervisors and fellow students for the feedback that shaped this build. Masahati is ready to try today, with the backend integration as the next milestone. Contact via WhatsApp for questions or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2011680" y="3291840"/>
            <a:ext cx="6858000" cy="6858000"/>
          </a:xfrm>
          <a:prstGeom prst="ellipse">
            <a:avLst/>
          </a:prstGeom>
          <a:solidFill>
            <a:srgbClr val="F97316">
              <a:alpha val="14000"/>
            </a:srgbClr>
          </a:solidFill>
          <a:ln/>
        </p:spPr>
      </p:sp>
      <p:sp>
        <p:nvSpPr>
          <p:cNvPr id="3" name="Shape 1"/>
          <p:cNvSpPr/>
          <p:nvPr/>
        </p:nvSpPr>
        <p:spPr>
          <a:xfrm>
            <a:off x="8778240" y="-2377440"/>
            <a:ext cx="5943600" cy="5943600"/>
          </a:xfrm>
          <a:prstGeom prst="ellipse">
            <a:avLst/>
          </a:prstGeom>
          <a:solidFill>
            <a:srgbClr val="EA580C">
              <a:alpha val="10000"/>
            </a:srgbClr>
          </a:solidFill>
          <a:ln/>
        </p:spPr>
      </p:sp>
      <p:sp>
        <p:nvSpPr>
          <p:cNvPr id="4" name="Shape 2"/>
          <p:cNvSpPr/>
          <p:nvPr/>
        </p:nvSpPr>
        <p:spPr>
          <a:xfrm>
            <a:off x="0" y="0"/>
            <a:ext cx="201168" cy="6858000"/>
          </a:xfrm>
          <a:prstGeom prst="rect">
            <a:avLst/>
          </a:prstGeom>
          <a:solidFill>
            <a:srgbClr val="F97316"/>
          </a:solidFill>
          <a:ln/>
        </p:spPr>
      </p:sp>
      <p:sp>
        <p:nvSpPr>
          <p:cNvPr id="5" name="Text 3"/>
          <p:cNvSpPr/>
          <p:nvPr/>
        </p:nvSpPr>
        <p:spPr>
          <a:xfrm>
            <a:off x="822960" y="1828800"/>
            <a:ext cx="10515600" cy="1097280"/>
          </a:xfrm>
          <a:prstGeom prst="rect">
            <a:avLst/>
          </a:prstGeom>
          <a:noFill/>
          <a:ln/>
        </p:spPr>
        <p:txBody>
          <a:bodyPr wrap="square" lIns="0" tIns="0" rIns="0" bIns="0" rtlCol="0" anchor="ctr"/>
          <a:lstStyle/>
          <a:p>
            <a:pPr algn="r" indent="0" marL="0">
              <a:buNone/>
            </a:pPr>
            <a:r>
              <a:rPr lang="en-US" sz="6000" b="1" dirty="0">
                <a:solidFill>
                  <a:srgbClr val="FFFFFF"/>
                </a:solidFill>
                <a:latin typeface="Cairo" pitchFamily="34" charset="0"/>
                <a:ea typeface="Cairo" pitchFamily="34" charset="-122"/>
                <a:cs typeface="Cairo" pitchFamily="34" charset="-120"/>
              </a:rPr>
              <a:t>مساحاتي</a:t>
            </a:r>
            <a:endParaRPr lang="en-US" sz="6000" dirty="0"/>
          </a:p>
        </p:txBody>
      </p:sp>
      <p:sp>
        <p:nvSpPr>
          <p:cNvPr id="6" name="Text 4"/>
          <p:cNvSpPr/>
          <p:nvPr/>
        </p:nvSpPr>
        <p:spPr>
          <a:xfrm>
            <a:off x="822960" y="2880360"/>
            <a:ext cx="10515600" cy="640080"/>
          </a:xfrm>
          <a:prstGeom prst="rect">
            <a:avLst/>
          </a:prstGeom>
          <a:noFill/>
          <a:ln/>
        </p:spPr>
        <p:txBody>
          <a:bodyPr wrap="square" lIns="0" tIns="0" rIns="0" bIns="0" rtlCol="0" anchor="ctr"/>
          <a:lstStyle/>
          <a:p>
            <a:pPr algn="r" indent="0" marL="0">
              <a:buNone/>
            </a:pPr>
            <a:r>
              <a:rPr lang="en-US" sz="2600" b="1" spc="200" kern="0" dirty="0">
                <a:solidFill>
                  <a:srgbClr val="F97316"/>
                </a:solidFill>
                <a:latin typeface="Calibri" pitchFamily="34" charset="0"/>
                <a:ea typeface="Calibri" pitchFamily="34" charset="-122"/>
                <a:cs typeface="Calibri" pitchFamily="34" charset="-120"/>
              </a:rPr>
              <a:t>Masahati</a:t>
            </a:r>
            <a:endParaRPr lang="en-US" sz="2600" dirty="0"/>
          </a:p>
        </p:txBody>
      </p:sp>
      <p:sp>
        <p:nvSpPr>
          <p:cNvPr id="7" name="Text 5"/>
          <p:cNvSpPr/>
          <p:nvPr/>
        </p:nvSpPr>
        <p:spPr>
          <a:xfrm>
            <a:off x="822960" y="3657600"/>
            <a:ext cx="10515600" cy="548640"/>
          </a:xfrm>
          <a:prstGeom prst="rect">
            <a:avLst/>
          </a:prstGeom>
          <a:noFill/>
          <a:ln/>
        </p:spPr>
        <p:txBody>
          <a:bodyPr wrap="square" lIns="0" tIns="0" rIns="0" bIns="0" rtlCol="0" anchor="ctr"/>
          <a:lstStyle/>
          <a:p>
            <a:pPr algn="r" indent="0" marL="0">
              <a:buNone/>
            </a:pPr>
            <a:r>
              <a:rPr lang="en-US" sz="2000" dirty="0">
                <a:solidFill>
                  <a:srgbClr val="E5E5E5"/>
                </a:solidFill>
                <a:latin typeface="Cairo" pitchFamily="34" charset="0"/>
                <a:ea typeface="Cairo" pitchFamily="34" charset="-122"/>
                <a:cs typeface="Cairo" pitchFamily="34" charset="-120"/>
              </a:rPr>
              <a:t>منصّة مساحات العمل المشتركة في غزة</a:t>
            </a:r>
            <a:endParaRPr lang="en-US" sz="2000" dirty="0"/>
          </a:p>
        </p:txBody>
      </p:sp>
      <p:sp>
        <p:nvSpPr>
          <p:cNvPr id="8" name="Text 6"/>
          <p:cNvSpPr/>
          <p:nvPr/>
        </p:nvSpPr>
        <p:spPr>
          <a:xfrm>
            <a:off x="822960" y="4206240"/>
            <a:ext cx="10515600" cy="457200"/>
          </a:xfrm>
          <a:prstGeom prst="rect">
            <a:avLst/>
          </a:prstGeom>
          <a:noFill/>
          <a:ln/>
        </p:spPr>
        <p:txBody>
          <a:bodyPr wrap="square" lIns="0" tIns="0" rIns="0" bIns="0" rtlCol="0" anchor="ctr"/>
          <a:lstStyle/>
          <a:p>
            <a:pPr algn="r" indent="0" marL="0">
              <a:buNone/>
            </a:pPr>
            <a:r>
              <a:rPr lang="en-US" sz="1400" i="1" dirty="0">
                <a:solidFill>
                  <a:srgbClr val="B0B0B0"/>
                </a:solidFill>
                <a:latin typeface="Calibri" pitchFamily="34" charset="0"/>
                <a:ea typeface="Calibri" pitchFamily="34" charset="-122"/>
                <a:cs typeface="Calibri" pitchFamily="34" charset="-120"/>
              </a:rPr>
              <a:t>The Shared-Workspace Platform for Gaza</a:t>
            </a:r>
            <a:endParaRPr lang="en-US" sz="1400" dirty="0"/>
          </a:p>
        </p:txBody>
      </p:sp>
      <p:sp>
        <p:nvSpPr>
          <p:cNvPr id="9" name="Shape 7"/>
          <p:cNvSpPr/>
          <p:nvPr/>
        </p:nvSpPr>
        <p:spPr>
          <a:xfrm>
            <a:off x="868680" y="4892040"/>
            <a:ext cx="3840480" cy="0"/>
          </a:xfrm>
          <a:prstGeom prst="line">
            <a:avLst/>
          </a:prstGeom>
          <a:noFill/>
          <a:ln w="25400">
            <a:solidFill>
              <a:srgbClr val="F97316"/>
            </a:solidFill>
            <a:prstDash val="solid"/>
          </a:ln>
        </p:spPr>
      </p:sp>
      <p:sp>
        <p:nvSpPr>
          <p:cNvPr id="10" name="Text 8"/>
          <p:cNvSpPr/>
          <p:nvPr/>
        </p:nvSpPr>
        <p:spPr>
          <a:xfrm>
            <a:off x="822960" y="5029200"/>
            <a:ext cx="10515600" cy="457200"/>
          </a:xfrm>
          <a:prstGeom prst="rect">
            <a:avLst/>
          </a:prstGeom>
          <a:noFill/>
          <a:ln/>
        </p:spPr>
        <p:txBody>
          <a:bodyPr wrap="square" lIns="0" tIns="0" rIns="0" bIns="0" rtlCol="0" anchor="ctr"/>
          <a:lstStyle/>
          <a:p>
            <a:pPr algn="r" indent="0" marL="0">
              <a:buNone/>
            </a:pPr>
            <a:r>
              <a:rPr lang="en-US" sz="1500" dirty="0">
                <a:solidFill>
                  <a:srgbClr val="FFFFFF"/>
                </a:solidFill>
                <a:latin typeface="Cairo" pitchFamily="34" charset="0"/>
                <a:ea typeface="Cairo" pitchFamily="34" charset="-122"/>
                <a:cs typeface="Cairo" pitchFamily="34" charset="-120"/>
              </a:rPr>
              <a:t>عرض تقدّمي — للطلاب والمشرفين</a:t>
            </a:r>
            <a:endParaRPr lang="en-US" sz="1500" dirty="0"/>
          </a:p>
        </p:txBody>
      </p:sp>
      <p:sp>
        <p:nvSpPr>
          <p:cNvPr id="11" name="Text 9"/>
          <p:cNvSpPr/>
          <p:nvPr/>
        </p:nvSpPr>
        <p:spPr>
          <a:xfrm>
            <a:off x="822960" y="5486400"/>
            <a:ext cx="10515600" cy="365760"/>
          </a:xfrm>
          <a:prstGeom prst="rect">
            <a:avLst/>
          </a:prstGeom>
          <a:noFill/>
          <a:ln/>
        </p:spPr>
        <p:txBody>
          <a:bodyPr wrap="square" lIns="0" tIns="0" rIns="0" bIns="0" rtlCol="0" anchor="ctr"/>
          <a:lstStyle/>
          <a:p>
            <a:pPr algn="r" indent="0" marL="0">
              <a:buNone/>
            </a:pPr>
            <a:r>
              <a:rPr lang="en-US" sz="1200" dirty="0">
                <a:solidFill>
                  <a:srgbClr val="9A9A9A"/>
                </a:solidFill>
                <a:latin typeface="Calibri" pitchFamily="34" charset="0"/>
                <a:ea typeface="Calibri" pitchFamily="34" charset="-122"/>
                <a:cs typeface="Calibri" pitchFamily="34" charset="-120"/>
              </a:rPr>
              <a:t>Progress Review • for Students &amp; Supervisors</a:t>
            </a:r>
            <a:endParaRPr lang="en-US" sz="1200" dirty="0"/>
          </a:p>
        </p:txBody>
      </p:sp>
      <p:sp>
        <p:nvSpPr>
          <p:cNvPr id="12" name="Text 10"/>
          <p:cNvSpPr/>
          <p:nvPr/>
        </p:nvSpPr>
        <p:spPr>
          <a:xfrm>
            <a:off x="822960" y="5897880"/>
            <a:ext cx="10515600" cy="365760"/>
          </a:xfrm>
          <a:prstGeom prst="rect">
            <a:avLst/>
          </a:prstGeom>
          <a:noFill/>
          <a:ln/>
        </p:spPr>
        <p:txBody>
          <a:bodyPr wrap="square" lIns="0" tIns="0" rIns="0" bIns="0" rtlCol="0" anchor="ctr"/>
          <a:lstStyle/>
          <a:p>
            <a:pPr algn="r" indent="0" marL="0">
              <a:buNone/>
            </a:pPr>
            <a:r>
              <a:rPr lang="en-US" sz="1200" dirty="0">
                <a:solidFill>
                  <a:srgbClr val="F97316"/>
                </a:solidFill>
                <a:latin typeface="Cairo" pitchFamily="34" charset="0"/>
                <a:ea typeface="Cairo" pitchFamily="34" charset="-122"/>
                <a:cs typeface="Cairo" pitchFamily="34" charset="-120"/>
              </a:rPr>
              <a:t>أغسطس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881360" cy="822960"/>
          </a:xfrm>
          <a:prstGeom prst="rect">
            <a:avLst/>
          </a:prstGeom>
          <a:noFill/>
          <a:ln/>
        </p:spPr>
        <p:txBody>
          <a:bodyPr wrap="square" lIns="0" tIns="0" rIns="0" bIns="0" rtlCol="0" anchor="ctr"/>
          <a:lstStyle/>
          <a:p>
            <a:pPr algn="r" indent="0" marL="0">
              <a:buNone/>
            </a:pPr>
            <a:r>
              <a:rPr lang="en-US" sz="3200" b="1" dirty="0">
                <a:solidFill>
                  <a:srgbClr val="0A0A0A"/>
                </a:solidFill>
                <a:latin typeface="Cairo" pitchFamily="34" charset="0"/>
                <a:ea typeface="Cairo" pitchFamily="34" charset="-122"/>
                <a:cs typeface="Cairo" pitchFamily="34" charset="-120"/>
              </a:rPr>
              <a:t>المشكلة: البحث عن مساحة عمل في غزة</a:t>
            </a:r>
            <a:endParaRPr lang="en-US" sz="3200" dirty="0"/>
          </a:p>
        </p:txBody>
      </p:sp>
      <p:sp>
        <p:nvSpPr>
          <p:cNvPr id="3" name="Text 1"/>
          <p:cNvSpPr/>
          <p:nvPr/>
        </p:nvSpPr>
        <p:spPr>
          <a:xfrm>
            <a:off x="640080" y="1344168"/>
            <a:ext cx="10881360" cy="365760"/>
          </a:xfrm>
          <a:prstGeom prst="rect">
            <a:avLst/>
          </a:prstGeom>
          <a:noFill/>
          <a:ln/>
        </p:spPr>
        <p:txBody>
          <a:bodyPr wrap="square" lIns="0" tIns="0" rIns="0" bIns="0" rtlCol="0" anchor="ctr"/>
          <a:lstStyle/>
          <a:p>
            <a:pPr algn="r" indent="0" marL="0">
              <a:buNone/>
            </a:pPr>
            <a:r>
              <a:rPr lang="en-US" sz="1300" spc="100" kern="0" dirty="0">
                <a:solidFill>
                  <a:srgbClr val="EA580C"/>
                </a:solidFill>
                <a:latin typeface="Calibri" pitchFamily="34" charset="0"/>
                <a:ea typeface="Calibri" pitchFamily="34" charset="-122"/>
                <a:cs typeface="Calibri" pitchFamily="34" charset="-120"/>
              </a:rPr>
              <a:t>THE PROBLEM</a:t>
            </a:r>
            <a:endParaRPr lang="en-US" sz="1300" dirty="0"/>
          </a:p>
        </p:txBody>
      </p:sp>
      <p:sp>
        <p:nvSpPr>
          <p:cNvPr id="4" name="Shape 2"/>
          <p:cNvSpPr/>
          <p:nvPr/>
        </p:nvSpPr>
        <p:spPr>
          <a:xfrm>
            <a:off x="658368" y="612648"/>
            <a:ext cx="164592" cy="164592"/>
          </a:xfrm>
          <a:prstGeom prst="ellipse">
            <a:avLst/>
          </a:prstGeom>
          <a:solidFill>
            <a:srgbClr val="F97316"/>
          </a:solidFill>
          <a:ln/>
        </p:spPr>
      </p:sp>
      <p:sp>
        <p:nvSpPr>
          <p:cNvPr id="5" name="Text 3"/>
          <p:cNvSpPr/>
          <p:nvPr/>
        </p:nvSpPr>
        <p:spPr>
          <a:xfrm>
            <a:off x="640080" y="6446520"/>
            <a:ext cx="8229600" cy="320040"/>
          </a:xfrm>
          <a:prstGeom prst="rect">
            <a:avLst/>
          </a:prstGeom>
          <a:noFill/>
          <a:ln/>
        </p:spPr>
        <p:txBody>
          <a:bodyPr wrap="square" lIns="0" tIns="0" rIns="0" bIns="0" rtlCol="0" anchor="ctr"/>
          <a:lstStyle/>
          <a:p>
            <a:pPr algn="r" indent="0" marL="0">
              <a:buNone/>
            </a:pPr>
            <a:r>
              <a:rPr lang="en-US" sz="900" dirty="0">
                <a:solidFill>
                  <a:srgbClr val="52525B"/>
                </a:solidFill>
                <a:latin typeface="Cairo" pitchFamily="34" charset="0"/>
                <a:ea typeface="Cairo" pitchFamily="34" charset="-122"/>
                <a:cs typeface="Cairo" pitchFamily="34" charset="-120"/>
              </a:rPr>
              <a:t>مساحاتي | Masahati</a:t>
            </a:r>
            <a:pPr algn="r" indent="0" marL="0">
              <a:buNone/>
            </a:pPr>
            <a:r>
              <a:rPr lang="en-US" sz="900" dirty="0">
                <a:solidFill>
                  <a:srgbClr val="52525B"/>
                </a:solidFill>
                <a:latin typeface="Cairo" pitchFamily="34" charset="0"/>
                <a:ea typeface="Cairo" pitchFamily="34" charset="-122"/>
                <a:cs typeface="Cairo" pitchFamily="34" charset="-120"/>
              </a:rPr>
              <a:t>    •    منصّة مساحات العمل المشتركة في غزة</a:t>
            </a:r>
            <a:endParaRPr lang="en-US" sz="900" dirty="0"/>
          </a:p>
        </p:txBody>
      </p:sp>
      <p:sp>
        <p:nvSpPr>
          <p:cNvPr id="6" name="Text 4"/>
          <p:cNvSpPr/>
          <p:nvPr/>
        </p:nvSpPr>
        <p:spPr>
          <a:xfrm>
            <a:off x="11247120" y="6446520"/>
            <a:ext cx="457200" cy="320040"/>
          </a:xfrm>
          <a:prstGeom prst="rect">
            <a:avLst/>
          </a:prstGeom>
          <a:noFill/>
          <a:ln/>
        </p:spPr>
        <p:txBody>
          <a:bodyPr wrap="square" lIns="0" tIns="0" rIns="0" bIns="0" rtlCol="0" anchor="ctr"/>
          <a:lstStyle/>
          <a:p>
            <a:pPr algn="ctr" indent="0" marL="0">
              <a:buNone/>
            </a:pPr>
            <a:r>
              <a:rPr lang="en-US" sz="900" dirty="0">
                <a:solidFill>
                  <a:srgbClr val="52525B"/>
                </a:solidFill>
                <a:latin typeface="Calibri" pitchFamily="34" charset="0"/>
                <a:ea typeface="Calibri" pitchFamily="34" charset="-122"/>
                <a:cs typeface="Calibri" pitchFamily="34" charset="-120"/>
              </a:rPr>
              <a:t>2</a:t>
            </a:r>
            <a:endParaRPr lang="en-US" sz="900" dirty="0"/>
          </a:p>
        </p:txBody>
      </p:sp>
      <p:sp>
        <p:nvSpPr>
          <p:cNvPr id="7" name="Shape 5"/>
          <p:cNvSpPr/>
          <p:nvPr/>
        </p:nvSpPr>
        <p:spPr>
          <a:xfrm>
            <a:off x="731520" y="1920240"/>
            <a:ext cx="914400" cy="914400"/>
          </a:xfrm>
          <a:prstGeom prst="ellipse">
            <a:avLst/>
          </a:prstGeom>
          <a:solidFill>
            <a:srgbClr val="FFF3E9"/>
          </a:solidFill>
          <a:ln/>
        </p:spPr>
      </p:sp>
      <p:sp>
        <p:nvSpPr>
          <p:cNvPr id="8" name="Text 6"/>
          <p:cNvSpPr/>
          <p:nvPr/>
        </p:nvSpPr>
        <p:spPr>
          <a:xfrm>
            <a:off x="731520" y="1920240"/>
            <a:ext cx="914400" cy="914400"/>
          </a:xfrm>
          <a:prstGeom prst="rect">
            <a:avLst/>
          </a:prstGeom>
          <a:noFill/>
          <a:ln/>
        </p:spPr>
        <p:txBody>
          <a:bodyPr wrap="square" lIns="0" tIns="0" rIns="0" bIns="0" rtlCol="0" anchor="ctr"/>
          <a:lstStyle/>
          <a:p>
            <a:pPr algn="ctr" indent="0" marL="0">
              <a:buNone/>
            </a:pPr>
            <a:r>
              <a:rPr lang="en-US" b="1" dirty="0">
                <a:solidFill>
                  <a:srgbClr val="EA580C"/>
                </a:solidFill>
                <a:latin typeface="Calibri" pitchFamily="34" charset="0"/>
                <a:ea typeface="Calibri" pitchFamily="34" charset="-122"/>
                <a:cs typeface="Calibri" pitchFamily="34" charset="-120"/>
              </a:rPr>
              <a:t>؟</a:t>
            </a:r>
            <a:endParaRPr lang="en-US" dirty="0"/>
          </a:p>
        </p:txBody>
      </p:sp>
      <p:sp>
        <p:nvSpPr>
          <p:cNvPr id="9" name="Text 7"/>
          <p:cNvSpPr/>
          <p:nvPr/>
        </p:nvSpPr>
        <p:spPr>
          <a:xfrm>
            <a:off x="1828800" y="1965960"/>
            <a:ext cx="9601200" cy="822960"/>
          </a:xfrm>
          <a:prstGeom prst="rect">
            <a:avLst/>
          </a:prstGeom>
          <a:noFill/>
          <a:ln/>
        </p:spPr>
        <p:txBody>
          <a:bodyPr wrap="square" lIns="0" tIns="0" rIns="0" bIns="0" rtlCol="0" anchor="ctr"/>
          <a:lstStyle/>
          <a:p>
            <a:pPr algn="r" indent="0" marL="0">
              <a:buNone/>
            </a:pPr>
            <a:r>
              <a:rPr lang="en-US" sz="2000" b="1" dirty="0">
                <a:solidFill>
                  <a:srgbClr val="18181B"/>
                </a:solidFill>
                <a:latin typeface="Cairo" pitchFamily="34" charset="0"/>
                <a:ea typeface="Cairo" pitchFamily="34" charset="-122"/>
                <a:cs typeface="Cairo" pitchFamily="34" charset="-120"/>
              </a:rPr>
              <a:t>تحدّيات الطلاب وأصحاب المساحات اليوم</a:t>
            </a:r>
            <a:endParaRPr lang="en-US" sz="2000" dirty="0"/>
          </a:p>
        </p:txBody>
      </p:sp>
      <p:sp>
        <p:nvSpPr>
          <p:cNvPr id="10" name="Text 8"/>
          <p:cNvSpPr/>
          <p:nvPr/>
        </p:nvSpPr>
        <p:spPr>
          <a:xfrm>
            <a:off x="914400" y="3108960"/>
            <a:ext cx="10332720" cy="2926080"/>
          </a:xfrm>
          <a:prstGeom prst="rect">
            <a:avLst/>
          </a:prstGeom>
          <a:noFill/>
          <a:ln/>
        </p:spPr>
        <p:txBody>
          <a:bodyPr wrap="square" lIns="0" tIns="0" rIns="0" bIns="0" rtlCol="0" anchor="t"/>
          <a:lstStyle/>
          <a:p>
            <a:pPr algn="r" marL="228600" indent="-228600">
              <a:lnSpc>
                <a:spcPct val="105000"/>
              </a:lnSpc>
              <a:spcAft>
                <a:spcPts val="1600"/>
              </a:spcAft>
              <a:buSzPct val="100000"/>
              <a:buChar char="•"/>
            </a:pPr>
            <a:r>
              <a:rPr lang="en-US" sz="1700" dirty="0">
                <a:solidFill>
                  <a:srgbClr val="18181B"/>
                </a:solidFill>
                <a:latin typeface="Cairo" pitchFamily="34" charset="0"/>
                <a:ea typeface="Cairo" pitchFamily="34" charset="-122"/>
                <a:cs typeface="Cairo" pitchFamily="34" charset="-120"/>
              </a:rPr>
              <a:t>لا توجد منصّة مركزية تجمع مساحات العمل المشتركة وقاعات الدراسة في غزة.</a:t>
            </a:r>
            <a:endParaRPr lang="en-US" sz="1700" dirty="0"/>
          </a:p>
          <a:p>
            <a:pPr algn="r" marL="228600" indent="-228600">
              <a:lnSpc>
                <a:spcPct val="105000"/>
              </a:lnSpc>
              <a:spcAft>
                <a:spcPts val="1600"/>
              </a:spcAft>
              <a:buSzPct val="100000"/>
              <a:buChar char="•"/>
            </a:pPr>
            <a:r>
              <a:rPr lang="en-US" sz="1700" dirty="0">
                <a:solidFill>
                  <a:srgbClr val="18181B"/>
                </a:solidFill>
                <a:latin typeface="Cairo" pitchFamily="34" charset="0"/>
                <a:ea typeface="Cairo" pitchFamily="34" charset="-122"/>
                <a:cs typeface="Cairo" pitchFamily="34" charset="-120"/>
              </a:rPr>
              <a:t>صعوبة مقارنة السعر، سرعة الإنترنت، وتوفّر الكهرباء قبل اتخاذ قرار الحجز.</a:t>
            </a:r>
            <a:endParaRPr lang="en-US" sz="1700" dirty="0"/>
          </a:p>
          <a:p>
            <a:pPr algn="r" marL="228600" indent="-228600">
              <a:lnSpc>
                <a:spcPct val="105000"/>
              </a:lnSpc>
              <a:spcAft>
                <a:spcPts val="1600"/>
              </a:spcAft>
              <a:buSzPct val="100000"/>
              <a:buChar char="•"/>
            </a:pPr>
            <a:r>
              <a:rPr lang="en-US" sz="1700" dirty="0">
                <a:solidFill>
                  <a:srgbClr val="18181B"/>
                </a:solidFill>
                <a:latin typeface="Cairo" pitchFamily="34" charset="0"/>
                <a:ea typeface="Cairo" pitchFamily="34" charset="-122"/>
                <a:cs typeface="Cairo" pitchFamily="34" charset="-120"/>
              </a:rPr>
              <a:t>الحجز يتم يدوياً عبر اتصالات ورسائل متفرّقة دون متابعة واضحة.</a:t>
            </a:r>
            <a:endParaRPr lang="en-US" sz="1700" dirty="0"/>
          </a:p>
          <a:p>
            <a:pPr algn="r" marL="228600" indent="-228600">
              <a:lnSpc>
                <a:spcPct val="105000"/>
              </a:lnSpc>
              <a:spcAft>
                <a:spcPts val="1600"/>
              </a:spcAft>
              <a:buSzPct val="100000"/>
              <a:buChar char="•"/>
            </a:pPr>
            <a:r>
              <a:rPr lang="en-US" sz="1700" dirty="0">
                <a:solidFill>
                  <a:srgbClr val="18181B"/>
                </a:solidFill>
                <a:latin typeface="Cairo" pitchFamily="34" charset="0"/>
                <a:ea typeface="Cairo" pitchFamily="34" charset="-122"/>
                <a:cs typeface="Cairo" pitchFamily="34" charset="-120"/>
              </a:rPr>
              <a:t>أصحاب المساحات يفتقرون إلى قناة موثوقة لعرض مساحاتهم والوثوقية.</a:t>
            </a:r>
            <a:endParaRPr lang="en-US" sz="1700" dirty="0"/>
          </a:p>
        </p:txBody>
      </p:sp>
      <p:sp>
        <p:nvSpPr>
          <p:cNvPr id="11" name="Text 9"/>
          <p:cNvSpPr/>
          <p:nvPr/>
        </p:nvSpPr>
        <p:spPr>
          <a:xfrm>
            <a:off x="914400" y="5943600"/>
            <a:ext cx="10332720" cy="457200"/>
          </a:xfrm>
          <a:prstGeom prst="rect">
            <a:avLst/>
          </a:prstGeom>
          <a:noFill/>
          <a:ln/>
        </p:spPr>
        <p:txBody>
          <a:bodyPr wrap="square" lIns="0" tIns="0" rIns="0" bIns="0" rtlCol="0" anchor="ctr"/>
          <a:lstStyle/>
          <a:p>
            <a:pPr algn="r" indent="0" marL="0">
              <a:buNone/>
            </a:pPr>
            <a:r>
              <a:rPr lang="en-US" sz="1400" i="1" dirty="0">
                <a:solidFill>
                  <a:srgbClr val="EA580C"/>
                </a:solidFill>
                <a:latin typeface="Cairo" pitchFamily="34" charset="0"/>
                <a:ea typeface="Cairo" pitchFamily="34" charset="-122"/>
                <a:cs typeface="Cairo" pitchFamily="34" charset="-120"/>
              </a:rPr>
              <a:t>النتيجة: وقت ضائع، شفافية أقل، وتجربة مجزّأة.</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502920"/>
            <a:ext cx="10881360" cy="822960"/>
          </a:xfrm>
          <a:prstGeom prst="rect">
            <a:avLst/>
          </a:prstGeom>
          <a:noFill/>
          <a:ln/>
        </p:spPr>
        <p:txBody>
          <a:bodyPr wrap="square" lIns="0" tIns="0" rIns="0" bIns="0" rtlCol="0" anchor="ctr"/>
          <a:lstStyle/>
          <a:p>
            <a:pPr algn="r" indent="0" marL="0">
              <a:buNone/>
            </a:pPr>
            <a:r>
              <a:rPr lang="en-US" sz="3200" b="1" dirty="0">
                <a:solidFill>
                  <a:srgbClr val="0A0A0A"/>
                </a:solidFill>
                <a:latin typeface="Cairo" pitchFamily="34" charset="0"/>
                <a:ea typeface="Cairo" pitchFamily="34" charset="-122"/>
                <a:cs typeface="Cairo" pitchFamily="34" charset="-120"/>
              </a:rPr>
              <a:t>الحل: منصّة مساحاتي</a:t>
            </a:r>
            <a:endParaRPr lang="en-US" sz="3200" dirty="0"/>
          </a:p>
        </p:txBody>
      </p:sp>
      <p:sp>
        <p:nvSpPr>
          <p:cNvPr id="3" name="Text 1"/>
          <p:cNvSpPr/>
          <p:nvPr/>
        </p:nvSpPr>
        <p:spPr>
          <a:xfrm>
            <a:off x="640080" y="1344168"/>
            <a:ext cx="10881360" cy="365760"/>
          </a:xfrm>
          <a:prstGeom prst="rect">
            <a:avLst/>
          </a:prstGeom>
          <a:noFill/>
          <a:ln/>
        </p:spPr>
        <p:txBody>
          <a:bodyPr wrap="square" lIns="0" tIns="0" rIns="0" bIns="0" rtlCol="0" anchor="ctr"/>
          <a:lstStyle/>
          <a:p>
            <a:pPr algn="r" indent="0" marL="0">
              <a:buNone/>
            </a:pPr>
            <a:r>
              <a:rPr lang="en-US" sz="1300" spc="100" kern="0" dirty="0">
                <a:solidFill>
                  <a:srgbClr val="EA580C"/>
                </a:solidFill>
                <a:latin typeface="Calibri" pitchFamily="34" charset="0"/>
                <a:ea typeface="Calibri" pitchFamily="34" charset="-122"/>
                <a:cs typeface="Calibri" pitchFamily="34" charset="-120"/>
              </a:rPr>
              <a:t>OUR SOLUTION</a:t>
            </a:r>
            <a:endParaRPr lang="en-US" sz="1300" dirty="0"/>
          </a:p>
        </p:txBody>
      </p:sp>
      <p:sp>
        <p:nvSpPr>
          <p:cNvPr id="4" name="Shape 2"/>
          <p:cNvSpPr/>
          <p:nvPr/>
        </p:nvSpPr>
        <p:spPr>
          <a:xfrm>
            <a:off x="658368" y="612648"/>
            <a:ext cx="164592" cy="164592"/>
          </a:xfrm>
          <a:prstGeom prst="ellipse">
            <a:avLst/>
          </a:prstGeom>
          <a:solidFill>
            <a:srgbClr val="F97316"/>
          </a:solidFill>
          <a:ln/>
        </p:spPr>
      </p:sp>
      <p:sp>
        <p:nvSpPr>
          <p:cNvPr id="5" name="Text 3"/>
          <p:cNvSpPr/>
          <p:nvPr/>
        </p:nvSpPr>
        <p:spPr>
          <a:xfrm>
            <a:off x="640080" y="6446520"/>
            <a:ext cx="8229600" cy="320040"/>
          </a:xfrm>
          <a:prstGeom prst="rect">
            <a:avLst/>
          </a:prstGeom>
          <a:noFill/>
          <a:ln/>
        </p:spPr>
        <p:txBody>
          <a:bodyPr wrap="square" lIns="0" tIns="0" rIns="0" bIns="0" rtlCol="0" anchor="ctr"/>
          <a:lstStyle/>
          <a:p>
            <a:pPr algn="r" indent="0" marL="0">
              <a:buNone/>
            </a:pPr>
            <a:r>
              <a:rPr lang="en-US" sz="900" dirty="0">
                <a:solidFill>
                  <a:srgbClr val="52525B"/>
                </a:solidFill>
                <a:latin typeface="Cairo" pitchFamily="34" charset="0"/>
                <a:ea typeface="Cairo" pitchFamily="34" charset="-122"/>
                <a:cs typeface="Cairo" pitchFamily="34" charset="-120"/>
              </a:rPr>
              <a:t>مساحاتي | Masahati</a:t>
            </a:r>
            <a:pPr algn="r" indent="0" marL="0">
              <a:buNone/>
            </a:pPr>
            <a:r>
              <a:rPr lang="en-US" sz="900" dirty="0">
                <a:solidFill>
                  <a:srgbClr val="52525B"/>
                </a:solidFill>
                <a:latin typeface="Cairo" pitchFamily="34" charset="0"/>
                <a:ea typeface="Cairo" pitchFamily="34" charset="-122"/>
                <a:cs typeface="Cairo" pitchFamily="34" charset="-120"/>
              </a:rPr>
              <a:t>    •    منصّة مساحات العمل المشتركة في غزة</a:t>
            </a:r>
            <a:endParaRPr lang="en-US" sz="900" dirty="0"/>
          </a:p>
        </p:txBody>
      </p:sp>
      <p:sp>
        <p:nvSpPr>
          <p:cNvPr id="6" name="Text 4"/>
          <p:cNvSpPr/>
          <p:nvPr/>
        </p:nvSpPr>
        <p:spPr>
          <a:xfrm>
            <a:off x="11247120" y="6446520"/>
            <a:ext cx="457200" cy="320040"/>
          </a:xfrm>
          <a:prstGeom prst="rect">
            <a:avLst/>
          </a:prstGeom>
          <a:noFill/>
          <a:ln/>
        </p:spPr>
        <p:txBody>
          <a:bodyPr wrap="square" lIns="0" tIns="0" rIns="0" bIns="0" rtlCol="0" anchor="ctr"/>
          <a:lstStyle/>
          <a:p>
            <a:pPr algn="ctr" indent="0" marL="0">
              <a:buNone/>
            </a:pPr>
            <a:r>
              <a:rPr lang="en-US" sz="900" dirty="0">
                <a:solidFill>
                  <a:srgbClr val="52525B"/>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516636" y="2286000"/>
            <a:ext cx="3383280" cy="3291840"/>
          </a:xfrm>
          <a:prstGeom prst="roundRect">
            <a:avLst>
              <a:gd name="adj" fmla="val 5000"/>
            </a:avLst>
          </a:prstGeom>
          <a:solidFill>
            <a:srgbClr val="FFFFFF"/>
          </a:solidFill>
          <a:ln w="12700">
            <a:solidFill>
              <a:srgbClr val="E4E4E7"/>
            </a:solidFill>
            <a:prstDash val="solid"/>
          </a:ln>
          <a:effectLst>
            <a:outerShdw sx="100000" sy="100000" kx="0" ky="0" algn="bl" rotWithShape="0" blurRad="152400" dist="50800" dir="5400000">
              <a:srgbClr val="000000">
                <a:alpha val="12000"/>
              </a:srgbClr>
            </a:outerShdw>
          </a:effectLst>
        </p:spPr>
      </p:sp>
      <p:sp>
        <p:nvSpPr>
          <p:cNvPr id="8" name="Shape 6"/>
          <p:cNvSpPr/>
          <p:nvPr/>
        </p:nvSpPr>
        <p:spPr>
          <a:xfrm>
            <a:off x="1705356" y="2697480"/>
            <a:ext cx="1005840" cy="1005840"/>
          </a:xfrm>
          <a:prstGeom prst="ellipse">
            <a:avLst/>
          </a:prstGeom>
          <a:solidFill>
            <a:srgbClr val="FFF3E9"/>
          </a:solidFill>
          <a:ln/>
        </p:spPr>
      </p:sp>
      <p:sp>
        <p:nvSpPr>
          <p:cNvPr id="9" name="Text 7"/>
          <p:cNvSpPr/>
          <p:nvPr/>
        </p:nvSpPr>
        <p:spPr>
          <a:xfrm>
            <a:off x="1705356" y="2697480"/>
            <a:ext cx="1005840" cy="1005840"/>
          </a:xfrm>
          <a:prstGeom prst="rect">
            <a:avLst/>
          </a:prstGeom>
          <a:noFill/>
          <a:ln/>
        </p:spPr>
        <p:txBody>
          <a:bodyPr wrap="square" lIns="0" tIns="0" rIns="0" bIns="0" rtlCol="0" anchor="ctr"/>
          <a:lstStyle/>
          <a:p>
            <a:pPr algn="ctr" indent="0" marL="0">
              <a:buNone/>
            </a:pPr>
            <a:r>
              <a:rPr lang="en-US" sz="100" b="1" dirty="0">
                <a:solidFill>
                  <a:srgbClr val="F97316"/>
                </a:solidFill>
                <a:latin typeface="Calibri" pitchFamily="34" charset="0"/>
                <a:ea typeface="Calibri" pitchFamily="34" charset="-122"/>
                <a:cs typeface="Calibri" pitchFamily="34" charset="-120"/>
              </a:rPr>
              <a:t>🔍</a:t>
            </a:r>
            <a:endParaRPr lang="en-US" sz="100" dirty="0"/>
          </a:p>
        </p:txBody>
      </p:sp>
      <p:sp>
        <p:nvSpPr>
          <p:cNvPr id="10" name="Text 8"/>
          <p:cNvSpPr/>
          <p:nvPr/>
        </p:nvSpPr>
        <p:spPr>
          <a:xfrm>
            <a:off x="516636" y="3840480"/>
            <a:ext cx="3383280" cy="548640"/>
          </a:xfrm>
          <a:prstGeom prst="rect">
            <a:avLst/>
          </a:prstGeom>
          <a:noFill/>
          <a:ln/>
        </p:spPr>
        <p:txBody>
          <a:bodyPr wrap="square" lIns="0" tIns="0" rIns="0" bIns="0" rtlCol="0" anchor="ctr"/>
          <a:lstStyle/>
          <a:p>
            <a:pPr algn="ctr" indent="0" marL="0">
              <a:buNone/>
            </a:pPr>
            <a:r>
              <a:rPr lang="en-US" sz="2400" b="1" dirty="0">
                <a:solidFill>
                  <a:srgbClr val="18181B"/>
                </a:solidFill>
                <a:latin typeface="Cairo" pitchFamily="34" charset="0"/>
                <a:ea typeface="Cairo" pitchFamily="34" charset="-122"/>
                <a:cs typeface="Cairo" pitchFamily="34" charset="-120"/>
              </a:rPr>
              <a:t>اكتشف</a:t>
            </a:r>
            <a:endParaRPr lang="en-US" sz="2400" dirty="0"/>
          </a:p>
        </p:txBody>
      </p:sp>
      <p:sp>
        <p:nvSpPr>
          <p:cNvPr id="11" name="Text 9"/>
          <p:cNvSpPr/>
          <p:nvPr/>
        </p:nvSpPr>
        <p:spPr>
          <a:xfrm>
            <a:off x="516636" y="4389120"/>
            <a:ext cx="3383280" cy="320040"/>
          </a:xfrm>
          <a:prstGeom prst="rect">
            <a:avLst/>
          </a:prstGeom>
          <a:noFill/>
          <a:ln/>
        </p:spPr>
        <p:txBody>
          <a:bodyPr wrap="square" lIns="0" tIns="0" rIns="0" bIns="0" rtlCol="0" anchor="ctr"/>
          <a:lstStyle/>
          <a:p>
            <a:pPr algn="ctr" indent="0" marL="0">
              <a:buNone/>
            </a:pPr>
            <a:r>
              <a:rPr lang="en-US" sz="1200" spc="100" kern="0" dirty="0">
                <a:solidFill>
                  <a:srgbClr val="EA580C"/>
                </a:solidFill>
                <a:latin typeface="Calibri" pitchFamily="34" charset="0"/>
                <a:ea typeface="Calibri" pitchFamily="34" charset="-122"/>
                <a:cs typeface="Calibri" pitchFamily="34" charset="-120"/>
              </a:rPr>
              <a:t>Discover</a:t>
            </a:r>
            <a:endParaRPr lang="en-US" sz="1200" dirty="0"/>
          </a:p>
        </p:txBody>
      </p:sp>
      <p:sp>
        <p:nvSpPr>
          <p:cNvPr id="12" name="Text 10"/>
          <p:cNvSpPr/>
          <p:nvPr/>
        </p:nvSpPr>
        <p:spPr>
          <a:xfrm>
            <a:off x="790956" y="4800600"/>
            <a:ext cx="2834640" cy="731520"/>
          </a:xfrm>
          <a:prstGeom prst="rect">
            <a:avLst/>
          </a:prstGeom>
          <a:noFill/>
          <a:ln/>
        </p:spPr>
        <p:txBody>
          <a:bodyPr wrap="square" lIns="0" tIns="0" rIns="0" bIns="0" rtlCol="0" anchor="ctr"/>
          <a:lstStyle/>
          <a:p>
            <a:pPr algn="ctr" indent="0" marL="0">
              <a:buNone/>
            </a:pPr>
            <a:r>
              <a:rPr lang="en-US" sz="1300" dirty="0">
                <a:solidFill>
                  <a:srgbClr val="52525B"/>
                </a:solidFill>
                <a:latin typeface="Cairo" pitchFamily="34" charset="0"/>
                <a:ea typeface="Cairo" pitchFamily="34" charset="-122"/>
                <a:cs typeface="Cairo" pitchFamily="34" charset="-120"/>
              </a:rPr>
              <a:t>تصفّح كل مساحات العمل المشتركة وقاعات الدراسة في مكان واحد.</a:t>
            </a:r>
            <a:endParaRPr lang="en-US" sz="1300" dirty="0"/>
          </a:p>
        </p:txBody>
      </p:sp>
      <p:sp>
        <p:nvSpPr>
          <p:cNvPr id="13" name="Shape 11"/>
          <p:cNvSpPr/>
          <p:nvPr/>
        </p:nvSpPr>
        <p:spPr>
          <a:xfrm>
            <a:off x="4402836" y="2286000"/>
            <a:ext cx="3383280" cy="3291840"/>
          </a:xfrm>
          <a:prstGeom prst="roundRect">
            <a:avLst>
              <a:gd name="adj" fmla="val 5000"/>
            </a:avLst>
          </a:prstGeom>
          <a:solidFill>
            <a:srgbClr val="FFFFFF"/>
          </a:solidFill>
          <a:ln w="12700">
            <a:solidFill>
              <a:srgbClr val="E4E4E7"/>
            </a:solidFill>
            <a:prstDash val="solid"/>
          </a:ln>
          <a:effectLst>
            <a:outerShdw sx="100000" sy="100000" kx="0" ky="0" algn="bl" rotWithShape="0" blurRad="152400" dist="50800" dir="5400000">
              <a:srgbClr val="000000">
                <a:alpha val="12000"/>
              </a:srgbClr>
            </a:outerShdw>
          </a:effectLst>
        </p:spPr>
      </p:sp>
      <p:sp>
        <p:nvSpPr>
          <p:cNvPr id="14" name="Shape 12"/>
          <p:cNvSpPr/>
          <p:nvPr/>
        </p:nvSpPr>
        <p:spPr>
          <a:xfrm>
            <a:off x="5591556" y="2697480"/>
            <a:ext cx="1005840" cy="1005840"/>
          </a:xfrm>
          <a:prstGeom prst="ellipse">
            <a:avLst/>
          </a:prstGeom>
          <a:solidFill>
            <a:srgbClr val="FFF3E9"/>
          </a:solidFill>
          <a:ln/>
        </p:spPr>
      </p:sp>
      <p:sp>
        <p:nvSpPr>
          <p:cNvPr id="15" name="Text 13"/>
          <p:cNvSpPr/>
          <p:nvPr/>
        </p:nvSpPr>
        <p:spPr>
          <a:xfrm>
            <a:off x="5591556" y="2697480"/>
            <a:ext cx="1005840" cy="1005840"/>
          </a:xfrm>
          <a:prstGeom prst="rect">
            <a:avLst/>
          </a:prstGeom>
          <a:noFill/>
          <a:ln/>
        </p:spPr>
        <p:txBody>
          <a:bodyPr wrap="square" lIns="0" tIns="0" rIns="0" bIns="0" rtlCol="0" anchor="ctr"/>
          <a:lstStyle/>
          <a:p>
            <a:pPr algn="ctr" indent="0" marL="0">
              <a:buNone/>
            </a:pPr>
            <a:r>
              <a:rPr lang="en-US" sz="100" b="1" dirty="0">
                <a:solidFill>
                  <a:srgbClr val="EA580C"/>
                </a:solidFill>
                <a:latin typeface="Calibri" pitchFamily="34" charset="0"/>
                <a:ea typeface="Calibri" pitchFamily="34" charset="-122"/>
                <a:cs typeface="Calibri" pitchFamily="34" charset="-120"/>
              </a:rPr>
              <a:t>⚖</a:t>
            </a:r>
            <a:endParaRPr lang="en-US" sz="100" dirty="0"/>
          </a:p>
        </p:txBody>
      </p:sp>
      <p:sp>
        <p:nvSpPr>
          <p:cNvPr id="16" name="Text 14"/>
          <p:cNvSpPr/>
          <p:nvPr/>
        </p:nvSpPr>
        <p:spPr>
          <a:xfrm>
            <a:off x="4402836" y="3840480"/>
            <a:ext cx="3383280" cy="548640"/>
          </a:xfrm>
          <a:prstGeom prst="rect">
            <a:avLst/>
          </a:prstGeom>
          <a:noFill/>
          <a:ln/>
        </p:spPr>
        <p:txBody>
          <a:bodyPr wrap="square" lIns="0" tIns="0" rIns="0" bIns="0" rtlCol="0" anchor="ctr"/>
          <a:lstStyle/>
          <a:p>
            <a:pPr algn="ctr" indent="0" marL="0">
              <a:buNone/>
            </a:pPr>
            <a:r>
              <a:rPr lang="en-US" sz="2400" b="1" dirty="0">
                <a:solidFill>
                  <a:srgbClr val="18181B"/>
                </a:solidFill>
                <a:latin typeface="Cairo" pitchFamily="34" charset="0"/>
                <a:ea typeface="Cairo" pitchFamily="34" charset="-122"/>
                <a:cs typeface="Cairo" pitchFamily="34" charset="-120"/>
              </a:rPr>
              <a:t>قارن</a:t>
            </a:r>
            <a:endParaRPr lang="en-US" sz="2400" dirty="0"/>
          </a:p>
        </p:txBody>
      </p:sp>
      <p:sp>
        <p:nvSpPr>
          <p:cNvPr id="17" name="Text 15"/>
          <p:cNvSpPr/>
          <p:nvPr/>
        </p:nvSpPr>
        <p:spPr>
          <a:xfrm>
            <a:off x="4402836" y="4389120"/>
            <a:ext cx="3383280" cy="320040"/>
          </a:xfrm>
          <a:prstGeom prst="rect">
            <a:avLst/>
          </a:prstGeom>
          <a:noFill/>
          <a:ln/>
        </p:spPr>
        <p:txBody>
          <a:bodyPr wrap="square" lIns="0" tIns="0" rIns="0" bIns="0" rtlCol="0" anchor="ctr"/>
          <a:lstStyle/>
          <a:p>
            <a:pPr algn="ctr" indent="0" marL="0">
              <a:buNone/>
            </a:pPr>
            <a:r>
              <a:rPr lang="en-US" sz="1200" spc="100" kern="0" dirty="0">
                <a:solidFill>
                  <a:srgbClr val="EA580C"/>
                </a:solidFill>
                <a:latin typeface="Calibri" pitchFamily="34" charset="0"/>
                <a:ea typeface="Calibri" pitchFamily="34" charset="-122"/>
                <a:cs typeface="Calibri" pitchFamily="34" charset="-120"/>
              </a:rPr>
              <a:t>Compare</a:t>
            </a:r>
            <a:endParaRPr lang="en-US" sz="1200" dirty="0"/>
          </a:p>
        </p:txBody>
      </p:sp>
      <p:sp>
        <p:nvSpPr>
          <p:cNvPr id="18" name="Text 16"/>
          <p:cNvSpPr/>
          <p:nvPr/>
        </p:nvSpPr>
        <p:spPr>
          <a:xfrm>
            <a:off x="4677156" y="4800600"/>
            <a:ext cx="2834640" cy="731520"/>
          </a:xfrm>
          <a:prstGeom prst="rect">
            <a:avLst/>
          </a:prstGeom>
          <a:noFill/>
          <a:ln/>
        </p:spPr>
        <p:txBody>
          <a:bodyPr wrap="square" lIns="0" tIns="0" rIns="0" bIns="0" rtlCol="0" anchor="ctr"/>
          <a:lstStyle/>
          <a:p>
            <a:pPr algn="ctr" indent="0" marL="0">
              <a:buNone/>
            </a:pPr>
            <a:r>
              <a:rPr lang="en-US" sz="1300" dirty="0">
                <a:solidFill>
                  <a:srgbClr val="52525B"/>
                </a:solidFill>
                <a:latin typeface="Cairo" pitchFamily="34" charset="0"/>
                <a:ea typeface="Cairo" pitchFamily="34" charset="-122"/>
                <a:cs typeface="Cairo" pitchFamily="34" charset="-120"/>
              </a:rPr>
              <a:t>قارن السعر، سرعة الإنترنت، وتوفّر الكهرباء جنباً إلى جنب.</a:t>
            </a:r>
            <a:endParaRPr lang="en-US" sz="1300" dirty="0"/>
          </a:p>
        </p:txBody>
      </p:sp>
      <p:sp>
        <p:nvSpPr>
          <p:cNvPr id="19" name="Shape 17"/>
          <p:cNvSpPr/>
          <p:nvPr/>
        </p:nvSpPr>
        <p:spPr>
          <a:xfrm>
            <a:off x="8289036" y="2286000"/>
            <a:ext cx="3383280" cy="3291840"/>
          </a:xfrm>
          <a:prstGeom prst="roundRect">
            <a:avLst>
              <a:gd name="adj" fmla="val 5000"/>
            </a:avLst>
          </a:prstGeom>
          <a:solidFill>
            <a:srgbClr val="FFFFFF"/>
          </a:solidFill>
          <a:ln w="12700">
            <a:solidFill>
              <a:srgbClr val="E4E4E7"/>
            </a:solidFill>
            <a:prstDash val="solid"/>
          </a:ln>
          <a:effectLst>
            <a:outerShdw sx="100000" sy="100000" kx="0" ky="0" algn="bl" rotWithShape="0" blurRad="152400" dist="50800" dir="5400000">
              <a:srgbClr val="000000">
                <a:alpha val="12000"/>
              </a:srgbClr>
            </a:outerShdw>
          </a:effectLst>
        </p:spPr>
      </p:sp>
      <p:sp>
        <p:nvSpPr>
          <p:cNvPr id="20" name="Shape 18"/>
          <p:cNvSpPr/>
          <p:nvPr/>
        </p:nvSpPr>
        <p:spPr>
          <a:xfrm>
            <a:off x="9477756" y="2697480"/>
            <a:ext cx="1005840" cy="1005840"/>
          </a:xfrm>
          <a:prstGeom prst="ellipse">
            <a:avLst/>
          </a:prstGeom>
          <a:solidFill>
            <a:srgbClr val="FFF3E9"/>
          </a:solidFill>
          <a:ln/>
        </p:spPr>
      </p:sp>
      <p:sp>
        <p:nvSpPr>
          <p:cNvPr id="21" name="Text 19"/>
          <p:cNvSpPr/>
          <p:nvPr/>
        </p:nvSpPr>
        <p:spPr>
          <a:xfrm>
            <a:off x="9477756" y="2697480"/>
            <a:ext cx="1005840" cy="1005840"/>
          </a:xfrm>
          <a:prstGeom prst="rect">
            <a:avLst/>
          </a:prstGeom>
          <a:noFill/>
          <a:ln/>
        </p:spPr>
        <p:txBody>
          <a:bodyPr wrap="square" lIns="0" tIns="0" rIns="0" bIns="0" rtlCol="0" anchor="ctr"/>
          <a:lstStyle/>
          <a:p>
            <a:pPr algn="ctr" indent="0" marL="0">
              <a:buNone/>
            </a:pPr>
            <a:r>
              <a:rPr lang="en-US" sz="100" b="1" dirty="0">
                <a:solidFill>
                  <a:srgbClr val="FB923C"/>
                </a:solidFill>
                <a:latin typeface="Calibri" pitchFamily="34" charset="0"/>
                <a:ea typeface="Calibri" pitchFamily="34" charset="-122"/>
                <a:cs typeface="Calibri" pitchFamily="34" charset="-120"/>
              </a:rPr>
              <a:t>⚡</a:t>
            </a:r>
            <a:endParaRPr lang="en-US" sz="100" dirty="0"/>
          </a:p>
        </p:txBody>
      </p:sp>
      <p:sp>
        <p:nvSpPr>
          <p:cNvPr id="22" name="Text 20"/>
          <p:cNvSpPr/>
          <p:nvPr/>
        </p:nvSpPr>
        <p:spPr>
          <a:xfrm>
            <a:off x="8289036" y="3840480"/>
            <a:ext cx="3383280" cy="548640"/>
          </a:xfrm>
          <a:prstGeom prst="rect">
            <a:avLst/>
          </a:prstGeom>
          <a:noFill/>
          <a:ln/>
        </p:spPr>
        <p:txBody>
          <a:bodyPr wrap="square" lIns="0" tIns="0" rIns="0" bIns="0" rtlCol="0" anchor="ctr"/>
          <a:lstStyle/>
          <a:p>
            <a:pPr algn="ctr" indent="0" marL="0">
              <a:buNone/>
            </a:pPr>
            <a:r>
              <a:rPr lang="en-US" sz="2400" b="1" dirty="0">
                <a:solidFill>
                  <a:srgbClr val="18181B"/>
                </a:solidFill>
                <a:latin typeface="Cairo" pitchFamily="34" charset="0"/>
                <a:ea typeface="Cairo" pitchFamily="34" charset="-122"/>
                <a:cs typeface="Cairo" pitchFamily="34" charset="-120"/>
              </a:rPr>
              <a:t>احجز</a:t>
            </a:r>
            <a:endParaRPr lang="en-US" sz="2400" dirty="0"/>
          </a:p>
        </p:txBody>
      </p:sp>
      <p:sp>
        <p:nvSpPr>
          <p:cNvPr id="23" name="Text 21"/>
          <p:cNvSpPr/>
          <p:nvPr/>
        </p:nvSpPr>
        <p:spPr>
          <a:xfrm>
            <a:off x="8289036" y="4389120"/>
            <a:ext cx="3383280" cy="320040"/>
          </a:xfrm>
          <a:prstGeom prst="rect">
            <a:avLst/>
          </a:prstGeom>
          <a:noFill/>
          <a:ln/>
        </p:spPr>
        <p:txBody>
          <a:bodyPr wrap="square" lIns="0" tIns="0" rIns="0" bIns="0" rtlCol="0" anchor="ctr"/>
          <a:lstStyle/>
          <a:p>
            <a:pPr algn="ctr" indent="0" marL="0">
              <a:buNone/>
            </a:pPr>
            <a:r>
              <a:rPr lang="en-US" sz="1200" spc="100" kern="0" dirty="0">
                <a:solidFill>
                  <a:srgbClr val="EA580C"/>
                </a:solidFill>
                <a:latin typeface="Calibri" pitchFamily="34" charset="0"/>
                <a:ea typeface="Calibri" pitchFamily="34" charset="-122"/>
                <a:cs typeface="Calibri" pitchFamily="34" charset="-120"/>
              </a:rPr>
              <a:t>Book</a:t>
            </a:r>
            <a:endParaRPr lang="en-US" sz="1200" dirty="0"/>
          </a:p>
        </p:txBody>
      </p:sp>
      <p:sp>
        <p:nvSpPr>
          <p:cNvPr id="24" name="Text 22"/>
          <p:cNvSpPr/>
          <p:nvPr/>
        </p:nvSpPr>
        <p:spPr>
          <a:xfrm>
            <a:off x="8563356" y="4800600"/>
            <a:ext cx="2834640" cy="731520"/>
          </a:xfrm>
          <a:prstGeom prst="rect">
            <a:avLst/>
          </a:prstGeom>
          <a:noFill/>
          <a:ln/>
        </p:spPr>
        <p:txBody>
          <a:bodyPr wrap="square" lIns="0" tIns="0" rIns="0" bIns="0" rtlCol="0" anchor="ctr"/>
          <a:lstStyle/>
          <a:p>
            <a:pPr algn="ctr" indent="0" marL="0">
              <a:buNone/>
            </a:pPr>
            <a:r>
              <a:rPr lang="en-US" sz="1300" dirty="0">
                <a:solidFill>
                  <a:srgbClr val="52525B"/>
                </a:solidFill>
                <a:latin typeface="Cairo" pitchFamily="34" charset="0"/>
                <a:ea typeface="Cairo" pitchFamily="34" charset="-122"/>
                <a:cs typeface="Cairo" pitchFamily="34" charset="-120"/>
              </a:rPr>
              <a:t>احجز مقعدك بنقرة واحدة — دون اتصال ولا رسالة.</a:t>
            </a:r>
            <a:endParaRPr lang="en-US" sz="1300" dirty="0"/>
          </a:p>
        </p:txBody>
      </p:sp>
      <p:sp>
        <p:nvSpPr>
          <p:cNvPr id="25" name="Text 23"/>
          <p:cNvSpPr/>
          <p:nvPr/>
        </p:nvSpPr>
        <p:spPr>
          <a:xfrm>
            <a:off x="640080" y="5897880"/>
            <a:ext cx="10881360" cy="457200"/>
          </a:xfrm>
          <a:prstGeom prst="rect">
            <a:avLst/>
          </a:prstGeom>
          <a:noFill/>
          <a:ln/>
        </p:spPr>
        <p:txBody>
          <a:bodyPr wrap="square" lIns="0" tIns="0" rIns="0" bIns="0" rtlCol="0" anchor="ctr"/>
          <a:lstStyle/>
          <a:p>
            <a:pPr algn="ctr" indent="0" marL="0">
              <a:buNone/>
            </a:pPr>
            <a:r>
              <a:rPr lang="en-US" sz="1500" i="1" dirty="0">
                <a:solidFill>
                  <a:srgbClr val="18181B"/>
                </a:solidFill>
                <a:latin typeface="Cairo" pitchFamily="34" charset="0"/>
                <a:ea typeface="Cairo" pitchFamily="34" charset="-122"/>
                <a:cs typeface="Cairo" pitchFamily="34" charset="-120"/>
              </a:rPr>
              <a:t>مساحاتي تجمع كل شيء في تجربة عربية واحدة سلسة.</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881360" cy="822960"/>
          </a:xfrm>
          <a:prstGeom prst="rect">
            <a:avLst/>
          </a:prstGeom>
          <a:noFill/>
          <a:ln/>
        </p:spPr>
        <p:txBody>
          <a:bodyPr wrap="square" lIns="0" tIns="0" rIns="0" bIns="0" rtlCol="0" anchor="ctr"/>
          <a:lstStyle/>
          <a:p>
            <a:pPr algn="r" indent="0" marL="0">
              <a:buNone/>
            </a:pPr>
            <a:r>
              <a:rPr lang="en-US" sz="3200" b="1" dirty="0">
                <a:solidFill>
                  <a:srgbClr val="0A0A0A"/>
                </a:solidFill>
                <a:latin typeface="Cairo" pitchFamily="34" charset="0"/>
                <a:ea typeface="Cairo" pitchFamily="34" charset="-122"/>
                <a:cs typeface="Cairo" pitchFamily="34" charset="-120"/>
              </a:rPr>
              <a:t>ما الذي بُني حتى الآن</a:t>
            </a:r>
            <a:endParaRPr lang="en-US" sz="3200" dirty="0"/>
          </a:p>
        </p:txBody>
      </p:sp>
      <p:sp>
        <p:nvSpPr>
          <p:cNvPr id="3" name="Text 1"/>
          <p:cNvSpPr/>
          <p:nvPr/>
        </p:nvSpPr>
        <p:spPr>
          <a:xfrm>
            <a:off x="640080" y="1344168"/>
            <a:ext cx="10881360" cy="365760"/>
          </a:xfrm>
          <a:prstGeom prst="rect">
            <a:avLst/>
          </a:prstGeom>
          <a:noFill/>
          <a:ln/>
        </p:spPr>
        <p:txBody>
          <a:bodyPr wrap="square" lIns="0" tIns="0" rIns="0" bIns="0" rtlCol="0" anchor="ctr"/>
          <a:lstStyle/>
          <a:p>
            <a:pPr algn="r" indent="0" marL="0">
              <a:buNone/>
            </a:pPr>
            <a:r>
              <a:rPr lang="en-US" sz="1300" spc="100" kern="0" dirty="0">
                <a:solidFill>
                  <a:srgbClr val="EA580C"/>
                </a:solidFill>
                <a:latin typeface="Calibri" pitchFamily="34" charset="0"/>
                <a:ea typeface="Calibri" pitchFamily="34" charset="-122"/>
                <a:cs typeface="Calibri" pitchFamily="34" charset="-120"/>
              </a:rPr>
              <a:t>FEATURES BUILT</a:t>
            </a:r>
            <a:endParaRPr lang="en-US" sz="1300" dirty="0"/>
          </a:p>
        </p:txBody>
      </p:sp>
      <p:sp>
        <p:nvSpPr>
          <p:cNvPr id="4" name="Shape 2"/>
          <p:cNvSpPr/>
          <p:nvPr/>
        </p:nvSpPr>
        <p:spPr>
          <a:xfrm>
            <a:off x="658368" y="612648"/>
            <a:ext cx="164592" cy="164592"/>
          </a:xfrm>
          <a:prstGeom prst="ellipse">
            <a:avLst/>
          </a:prstGeom>
          <a:solidFill>
            <a:srgbClr val="F97316"/>
          </a:solidFill>
          <a:ln/>
        </p:spPr>
      </p:sp>
      <p:sp>
        <p:nvSpPr>
          <p:cNvPr id="5" name="Text 3"/>
          <p:cNvSpPr/>
          <p:nvPr/>
        </p:nvSpPr>
        <p:spPr>
          <a:xfrm>
            <a:off x="640080" y="6446520"/>
            <a:ext cx="8229600" cy="320040"/>
          </a:xfrm>
          <a:prstGeom prst="rect">
            <a:avLst/>
          </a:prstGeom>
          <a:noFill/>
          <a:ln/>
        </p:spPr>
        <p:txBody>
          <a:bodyPr wrap="square" lIns="0" tIns="0" rIns="0" bIns="0" rtlCol="0" anchor="ctr"/>
          <a:lstStyle/>
          <a:p>
            <a:pPr algn="r" indent="0" marL="0">
              <a:buNone/>
            </a:pPr>
            <a:r>
              <a:rPr lang="en-US" sz="900" dirty="0">
                <a:solidFill>
                  <a:srgbClr val="52525B"/>
                </a:solidFill>
                <a:latin typeface="Cairo" pitchFamily="34" charset="0"/>
                <a:ea typeface="Cairo" pitchFamily="34" charset="-122"/>
                <a:cs typeface="Cairo" pitchFamily="34" charset="-120"/>
              </a:rPr>
              <a:t>مساحاتي | Masahati</a:t>
            </a:r>
            <a:pPr algn="r" indent="0" marL="0">
              <a:buNone/>
            </a:pPr>
            <a:r>
              <a:rPr lang="en-US" sz="900" dirty="0">
                <a:solidFill>
                  <a:srgbClr val="52525B"/>
                </a:solidFill>
                <a:latin typeface="Cairo" pitchFamily="34" charset="0"/>
                <a:ea typeface="Cairo" pitchFamily="34" charset="-122"/>
                <a:cs typeface="Cairo" pitchFamily="34" charset="-120"/>
              </a:rPr>
              <a:t>    •    منصّة مساحات العمل المشتركة في غزة</a:t>
            </a:r>
            <a:endParaRPr lang="en-US" sz="900" dirty="0"/>
          </a:p>
        </p:txBody>
      </p:sp>
      <p:sp>
        <p:nvSpPr>
          <p:cNvPr id="6" name="Text 4"/>
          <p:cNvSpPr/>
          <p:nvPr/>
        </p:nvSpPr>
        <p:spPr>
          <a:xfrm>
            <a:off x="11247120" y="6446520"/>
            <a:ext cx="457200" cy="320040"/>
          </a:xfrm>
          <a:prstGeom prst="rect">
            <a:avLst/>
          </a:prstGeom>
          <a:noFill/>
          <a:ln/>
        </p:spPr>
        <p:txBody>
          <a:bodyPr wrap="square" lIns="0" tIns="0" rIns="0" bIns="0" rtlCol="0" anchor="ctr"/>
          <a:lstStyle/>
          <a:p>
            <a:pPr algn="ctr" indent="0" marL="0">
              <a:buNone/>
            </a:pPr>
            <a:r>
              <a:rPr lang="en-US" sz="900" dirty="0">
                <a:solidFill>
                  <a:srgbClr val="52525B"/>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640080" y="2011680"/>
            <a:ext cx="3429000" cy="1783080"/>
          </a:xfrm>
          <a:prstGeom prst="roundRect">
            <a:avLst>
              <a:gd name="adj" fmla="val 7179"/>
            </a:avLst>
          </a:prstGeom>
          <a:solidFill>
            <a:srgbClr val="F8FAFC"/>
          </a:solidFill>
          <a:ln w="12700">
            <a:solidFill>
              <a:srgbClr val="E4E4E7"/>
            </a:solidFill>
            <a:prstDash val="solid"/>
          </a:ln>
        </p:spPr>
      </p:sp>
      <p:sp>
        <p:nvSpPr>
          <p:cNvPr id="8" name="Shape 6"/>
          <p:cNvSpPr/>
          <p:nvPr/>
        </p:nvSpPr>
        <p:spPr>
          <a:xfrm>
            <a:off x="914400" y="2331720"/>
            <a:ext cx="777240" cy="777240"/>
          </a:xfrm>
          <a:prstGeom prst="ellipse">
            <a:avLst/>
          </a:prstGeom>
          <a:solidFill>
            <a:srgbClr val="FFF3E9"/>
          </a:solidFill>
          <a:ln/>
        </p:spPr>
      </p:sp>
      <p:sp>
        <p:nvSpPr>
          <p:cNvPr id="9" name="Text 7"/>
          <p:cNvSpPr/>
          <p:nvPr/>
        </p:nvSpPr>
        <p:spPr>
          <a:xfrm>
            <a:off x="914400" y="2331720"/>
            <a:ext cx="777240" cy="777240"/>
          </a:xfrm>
          <a:prstGeom prst="rect">
            <a:avLst/>
          </a:prstGeom>
          <a:noFill/>
          <a:ln/>
        </p:spPr>
        <p:txBody>
          <a:bodyPr wrap="square" lIns="0" tIns="0" rIns="0" bIns="0" rtlCol="0" anchor="ctr"/>
          <a:lstStyle/>
          <a:p>
            <a:pPr algn="ctr" indent="0" marL="0">
              <a:buNone/>
            </a:pPr>
            <a:r>
              <a:rPr lang="en-US" b="1" dirty="0">
                <a:solidFill>
                  <a:srgbClr val="EA580C"/>
                </a:solidFill>
                <a:latin typeface="Calibri" pitchFamily="34" charset="0"/>
                <a:ea typeface="Calibri" pitchFamily="34" charset="-122"/>
                <a:cs typeface="Calibri" pitchFamily="34" charset="-120"/>
              </a:rPr>
              <a:t>🌐</a:t>
            </a:r>
            <a:endParaRPr lang="en-US" dirty="0"/>
          </a:p>
        </p:txBody>
      </p:sp>
      <p:sp>
        <p:nvSpPr>
          <p:cNvPr id="10" name="Text 8"/>
          <p:cNvSpPr/>
          <p:nvPr/>
        </p:nvSpPr>
        <p:spPr>
          <a:xfrm>
            <a:off x="1828800" y="2286000"/>
            <a:ext cx="2057400" cy="548640"/>
          </a:xfrm>
          <a:prstGeom prst="rect">
            <a:avLst/>
          </a:prstGeom>
          <a:noFill/>
          <a:ln/>
        </p:spPr>
        <p:txBody>
          <a:bodyPr wrap="square" lIns="0" tIns="0" rIns="0" bIns="0" rtlCol="0" anchor="ctr"/>
          <a:lstStyle/>
          <a:p>
            <a:pPr algn="r" indent="0" marL="0">
              <a:buNone/>
            </a:pPr>
            <a:r>
              <a:rPr lang="en-US" sz="1500" b="1" dirty="0">
                <a:solidFill>
                  <a:srgbClr val="18181B"/>
                </a:solidFill>
                <a:latin typeface="Cairo" pitchFamily="34" charset="0"/>
                <a:ea typeface="Cairo" pitchFamily="34" charset="-122"/>
                <a:cs typeface="Cairo" pitchFamily="34" charset="-120"/>
              </a:rPr>
              <a:t>واجهة عربية RTL كاملة</a:t>
            </a:r>
            <a:endParaRPr lang="en-US" sz="1500" dirty="0"/>
          </a:p>
        </p:txBody>
      </p:sp>
      <p:sp>
        <p:nvSpPr>
          <p:cNvPr id="11" name="Text 9"/>
          <p:cNvSpPr/>
          <p:nvPr/>
        </p:nvSpPr>
        <p:spPr>
          <a:xfrm>
            <a:off x="914400" y="3108960"/>
            <a:ext cx="2880360" cy="594360"/>
          </a:xfrm>
          <a:prstGeom prst="rect">
            <a:avLst/>
          </a:prstGeom>
          <a:noFill/>
          <a:ln/>
        </p:spPr>
        <p:txBody>
          <a:bodyPr wrap="square" lIns="0" tIns="0" rIns="0" bIns="0" rtlCol="0" anchor="ctr"/>
          <a:lstStyle/>
          <a:p>
            <a:pPr algn="r" indent="0" marL="0">
              <a:buNone/>
            </a:pPr>
            <a:r>
              <a:rPr lang="en-US" sz="1250" dirty="0">
                <a:solidFill>
                  <a:srgbClr val="52525B"/>
                </a:solidFill>
                <a:latin typeface="Cairo" pitchFamily="34" charset="0"/>
                <a:ea typeface="Cairo" pitchFamily="34" charset="-122"/>
                <a:cs typeface="Cairo" pitchFamily="34" charset="-120"/>
              </a:rPr>
              <a:t>اتجاه من اليمين لليسار مع خط Cairo.</a:t>
            </a:r>
            <a:endParaRPr lang="en-US" sz="1250" dirty="0"/>
          </a:p>
        </p:txBody>
      </p:sp>
      <p:sp>
        <p:nvSpPr>
          <p:cNvPr id="12" name="Shape 10"/>
          <p:cNvSpPr/>
          <p:nvPr/>
        </p:nvSpPr>
        <p:spPr>
          <a:xfrm>
            <a:off x="4434840" y="2011680"/>
            <a:ext cx="3429000" cy="1783080"/>
          </a:xfrm>
          <a:prstGeom prst="roundRect">
            <a:avLst>
              <a:gd name="adj" fmla="val 7179"/>
            </a:avLst>
          </a:prstGeom>
          <a:solidFill>
            <a:srgbClr val="F8FAFC"/>
          </a:solidFill>
          <a:ln w="12700">
            <a:solidFill>
              <a:srgbClr val="E4E4E7"/>
            </a:solidFill>
            <a:prstDash val="solid"/>
          </a:ln>
        </p:spPr>
      </p:sp>
      <p:sp>
        <p:nvSpPr>
          <p:cNvPr id="13" name="Shape 11"/>
          <p:cNvSpPr/>
          <p:nvPr/>
        </p:nvSpPr>
        <p:spPr>
          <a:xfrm>
            <a:off x="4709160" y="2331720"/>
            <a:ext cx="777240" cy="777240"/>
          </a:xfrm>
          <a:prstGeom prst="ellipse">
            <a:avLst/>
          </a:prstGeom>
          <a:solidFill>
            <a:srgbClr val="FFF3E9"/>
          </a:solidFill>
          <a:ln/>
        </p:spPr>
      </p:sp>
      <p:sp>
        <p:nvSpPr>
          <p:cNvPr id="14" name="Text 12"/>
          <p:cNvSpPr/>
          <p:nvPr/>
        </p:nvSpPr>
        <p:spPr>
          <a:xfrm>
            <a:off x="4709160" y="2331720"/>
            <a:ext cx="777240" cy="777240"/>
          </a:xfrm>
          <a:prstGeom prst="rect">
            <a:avLst/>
          </a:prstGeom>
          <a:noFill/>
          <a:ln/>
        </p:spPr>
        <p:txBody>
          <a:bodyPr wrap="square" lIns="0" tIns="0" rIns="0" bIns="0" rtlCol="0" anchor="ctr"/>
          <a:lstStyle/>
          <a:p>
            <a:pPr algn="ctr" indent="0" marL="0">
              <a:buNone/>
            </a:pPr>
            <a:r>
              <a:rPr lang="en-US" b="1" dirty="0">
                <a:solidFill>
                  <a:srgbClr val="EA580C"/>
                </a:solidFill>
                <a:latin typeface="Calibri" pitchFamily="34" charset="0"/>
                <a:ea typeface="Calibri" pitchFamily="34" charset="-122"/>
                <a:cs typeface="Calibri" pitchFamily="34" charset="-120"/>
              </a:rPr>
              <a:t>📱</a:t>
            </a:r>
            <a:endParaRPr lang="en-US" dirty="0"/>
          </a:p>
        </p:txBody>
      </p:sp>
      <p:sp>
        <p:nvSpPr>
          <p:cNvPr id="15" name="Text 13"/>
          <p:cNvSpPr/>
          <p:nvPr/>
        </p:nvSpPr>
        <p:spPr>
          <a:xfrm>
            <a:off x="5623560" y="2286000"/>
            <a:ext cx="2057400" cy="548640"/>
          </a:xfrm>
          <a:prstGeom prst="rect">
            <a:avLst/>
          </a:prstGeom>
          <a:noFill/>
          <a:ln/>
        </p:spPr>
        <p:txBody>
          <a:bodyPr wrap="square" lIns="0" tIns="0" rIns="0" bIns="0" rtlCol="0" anchor="ctr"/>
          <a:lstStyle/>
          <a:p>
            <a:pPr algn="r" indent="0" marL="0">
              <a:buNone/>
            </a:pPr>
            <a:r>
              <a:rPr lang="en-US" sz="1500" b="1" dirty="0">
                <a:solidFill>
                  <a:srgbClr val="18181B"/>
                </a:solidFill>
                <a:latin typeface="Cairo" pitchFamily="34" charset="0"/>
                <a:ea typeface="Cairo" pitchFamily="34" charset="-122"/>
                <a:cs typeface="Cairo" pitchFamily="34" charset="-120"/>
              </a:rPr>
              <a:t>تصميم متجاوب</a:t>
            </a:r>
            <a:endParaRPr lang="en-US" sz="1500" dirty="0"/>
          </a:p>
        </p:txBody>
      </p:sp>
      <p:sp>
        <p:nvSpPr>
          <p:cNvPr id="16" name="Text 14"/>
          <p:cNvSpPr/>
          <p:nvPr/>
        </p:nvSpPr>
        <p:spPr>
          <a:xfrm>
            <a:off x="4709160" y="3108960"/>
            <a:ext cx="2880360" cy="594360"/>
          </a:xfrm>
          <a:prstGeom prst="rect">
            <a:avLst/>
          </a:prstGeom>
          <a:noFill/>
          <a:ln/>
        </p:spPr>
        <p:txBody>
          <a:bodyPr wrap="square" lIns="0" tIns="0" rIns="0" bIns="0" rtlCol="0" anchor="ctr"/>
          <a:lstStyle/>
          <a:p>
            <a:pPr algn="r" indent="0" marL="0">
              <a:buNone/>
            </a:pPr>
            <a:r>
              <a:rPr lang="en-US" sz="1250" dirty="0">
                <a:solidFill>
                  <a:srgbClr val="52525B"/>
                </a:solidFill>
                <a:latin typeface="Cairo" pitchFamily="34" charset="0"/>
                <a:ea typeface="Cairo" pitchFamily="34" charset="-122"/>
                <a:cs typeface="Cairo" pitchFamily="34" charset="-120"/>
              </a:rPr>
              <a:t>جوال وسطح مكتب، لمس 44px، بلا تكبير.</a:t>
            </a:r>
            <a:endParaRPr lang="en-US" sz="1250" dirty="0"/>
          </a:p>
        </p:txBody>
      </p:sp>
      <p:sp>
        <p:nvSpPr>
          <p:cNvPr id="17" name="Shape 15"/>
          <p:cNvSpPr/>
          <p:nvPr/>
        </p:nvSpPr>
        <p:spPr>
          <a:xfrm>
            <a:off x="8229600" y="2011680"/>
            <a:ext cx="3429000" cy="1783080"/>
          </a:xfrm>
          <a:prstGeom prst="roundRect">
            <a:avLst>
              <a:gd name="adj" fmla="val 7179"/>
            </a:avLst>
          </a:prstGeom>
          <a:solidFill>
            <a:srgbClr val="F8FAFC"/>
          </a:solidFill>
          <a:ln w="12700">
            <a:solidFill>
              <a:srgbClr val="E4E4E7"/>
            </a:solidFill>
            <a:prstDash val="solid"/>
          </a:ln>
        </p:spPr>
      </p:sp>
      <p:sp>
        <p:nvSpPr>
          <p:cNvPr id="18" name="Shape 16"/>
          <p:cNvSpPr/>
          <p:nvPr/>
        </p:nvSpPr>
        <p:spPr>
          <a:xfrm>
            <a:off x="8503920" y="2331720"/>
            <a:ext cx="777240" cy="777240"/>
          </a:xfrm>
          <a:prstGeom prst="ellipse">
            <a:avLst/>
          </a:prstGeom>
          <a:solidFill>
            <a:srgbClr val="FFF3E9"/>
          </a:solidFill>
          <a:ln/>
        </p:spPr>
      </p:sp>
      <p:sp>
        <p:nvSpPr>
          <p:cNvPr id="19" name="Text 17"/>
          <p:cNvSpPr/>
          <p:nvPr/>
        </p:nvSpPr>
        <p:spPr>
          <a:xfrm>
            <a:off x="8503920" y="2331720"/>
            <a:ext cx="777240" cy="777240"/>
          </a:xfrm>
          <a:prstGeom prst="rect">
            <a:avLst/>
          </a:prstGeom>
          <a:noFill/>
          <a:ln/>
        </p:spPr>
        <p:txBody>
          <a:bodyPr wrap="square" lIns="0" tIns="0" rIns="0" bIns="0" rtlCol="0" anchor="ctr"/>
          <a:lstStyle/>
          <a:p>
            <a:pPr algn="ctr" indent="0" marL="0">
              <a:buNone/>
            </a:pPr>
            <a:r>
              <a:rPr lang="en-US" b="1" dirty="0">
                <a:solidFill>
                  <a:srgbClr val="EA580C"/>
                </a:solidFill>
                <a:latin typeface="Calibri" pitchFamily="34" charset="0"/>
                <a:ea typeface="Calibri" pitchFamily="34" charset="-122"/>
                <a:cs typeface="Calibri" pitchFamily="34" charset="-120"/>
              </a:rPr>
              <a:t>👥</a:t>
            </a:r>
            <a:endParaRPr lang="en-US" dirty="0"/>
          </a:p>
        </p:txBody>
      </p:sp>
      <p:sp>
        <p:nvSpPr>
          <p:cNvPr id="20" name="Text 18"/>
          <p:cNvSpPr/>
          <p:nvPr/>
        </p:nvSpPr>
        <p:spPr>
          <a:xfrm>
            <a:off x="9418320" y="2286000"/>
            <a:ext cx="2057400" cy="548640"/>
          </a:xfrm>
          <a:prstGeom prst="rect">
            <a:avLst/>
          </a:prstGeom>
          <a:noFill/>
          <a:ln/>
        </p:spPr>
        <p:txBody>
          <a:bodyPr wrap="square" lIns="0" tIns="0" rIns="0" bIns="0" rtlCol="0" anchor="ctr"/>
          <a:lstStyle/>
          <a:p>
            <a:pPr algn="r" indent="0" marL="0">
              <a:buNone/>
            </a:pPr>
            <a:r>
              <a:rPr lang="en-US" sz="1500" b="1" dirty="0">
                <a:solidFill>
                  <a:srgbClr val="18181B"/>
                </a:solidFill>
                <a:latin typeface="Cairo" pitchFamily="34" charset="0"/>
                <a:ea typeface="Cairo" pitchFamily="34" charset="-122"/>
                <a:cs typeface="Cairo" pitchFamily="34" charset="-120"/>
              </a:rPr>
              <a:t>حساب بنوع المستخدم</a:t>
            </a:r>
            <a:endParaRPr lang="en-US" sz="1500" dirty="0"/>
          </a:p>
        </p:txBody>
      </p:sp>
      <p:sp>
        <p:nvSpPr>
          <p:cNvPr id="21" name="Text 19"/>
          <p:cNvSpPr/>
          <p:nvPr/>
        </p:nvSpPr>
        <p:spPr>
          <a:xfrm>
            <a:off x="8503920" y="3108960"/>
            <a:ext cx="2880360" cy="594360"/>
          </a:xfrm>
          <a:prstGeom prst="rect">
            <a:avLst/>
          </a:prstGeom>
          <a:noFill/>
          <a:ln/>
        </p:spPr>
        <p:txBody>
          <a:bodyPr wrap="square" lIns="0" tIns="0" rIns="0" bIns="0" rtlCol="0" anchor="ctr"/>
          <a:lstStyle/>
          <a:p>
            <a:pPr algn="r" indent="0" marL="0">
              <a:buNone/>
            </a:pPr>
            <a:r>
              <a:rPr lang="en-US" sz="1250" dirty="0">
                <a:solidFill>
                  <a:srgbClr val="52525B"/>
                </a:solidFill>
                <a:latin typeface="Cairo" pitchFamily="34" charset="0"/>
                <a:ea typeface="Cairo" pitchFamily="34" charset="-122"/>
                <a:cs typeface="Cairo" pitchFamily="34" charset="-120"/>
              </a:rPr>
              <a:t>طالب أو صاحب مساحة.</a:t>
            </a:r>
            <a:endParaRPr lang="en-US" sz="1250" dirty="0"/>
          </a:p>
        </p:txBody>
      </p:sp>
      <p:sp>
        <p:nvSpPr>
          <p:cNvPr id="22" name="Shape 20"/>
          <p:cNvSpPr/>
          <p:nvPr/>
        </p:nvSpPr>
        <p:spPr>
          <a:xfrm>
            <a:off x="640080" y="4160520"/>
            <a:ext cx="3429000" cy="1783080"/>
          </a:xfrm>
          <a:prstGeom prst="roundRect">
            <a:avLst>
              <a:gd name="adj" fmla="val 7179"/>
            </a:avLst>
          </a:prstGeom>
          <a:solidFill>
            <a:srgbClr val="F8FAFC"/>
          </a:solidFill>
          <a:ln w="12700">
            <a:solidFill>
              <a:srgbClr val="E4E4E7"/>
            </a:solidFill>
            <a:prstDash val="solid"/>
          </a:ln>
        </p:spPr>
      </p:sp>
      <p:sp>
        <p:nvSpPr>
          <p:cNvPr id="23" name="Shape 21"/>
          <p:cNvSpPr/>
          <p:nvPr/>
        </p:nvSpPr>
        <p:spPr>
          <a:xfrm>
            <a:off x="914400" y="4480560"/>
            <a:ext cx="777240" cy="777240"/>
          </a:xfrm>
          <a:prstGeom prst="ellipse">
            <a:avLst/>
          </a:prstGeom>
          <a:solidFill>
            <a:srgbClr val="FFF3E9"/>
          </a:solidFill>
          <a:ln/>
        </p:spPr>
      </p:sp>
      <p:sp>
        <p:nvSpPr>
          <p:cNvPr id="24" name="Text 22"/>
          <p:cNvSpPr/>
          <p:nvPr/>
        </p:nvSpPr>
        <p:spPr>
          <a:xfrm>
            <a:off x="914400" y="4480560"/>
            <a:ext cx="777240" cy="777240"/>
          </a:xfrm>
          <a:prstGeom prst="rect">
            <a:avLst/>
          </a:prstGeom>
          <a:noFill/>
          <a:ln/>
        </p:spPr>
        <p:txBody>
          <a:bodyPr wrap="square" lIns="0" tIns="0" rIns="0" bIns="0" rtlCol="0" anchor="ctr"/>
          <a:lstStyle/>
          <a:p>
            <a:pPr algn="ctr" indent="0" marL="0">
              <a:buNone/>
            </a:pPr>
            <a:r>
              <a:rPr lang="en-US" b="1" dirty="0">
                <a:solidFill>
                  <a:srgbClr val="EA580C"/>
                </a:solidFill>
                <a:latin typeface="Calibri" pitchFamily="34" charset="0"/>
                <a:ea typeface="Calibri" pitchFamily="34" charset="-122"/>
                <a:cs typeface="Calibri" pitchFamily="34" charset="-120"/>
              </a:rPr>
              <a:t>🔐</a:t>
            </a:r>
            <a:endParaRPr lang="en-US" dirty="0"/>
          </a:p>
        </p:txBody>
      </p:sp>
      <p:sp>
        <p:nvSpPr>
          <p:cNvPr id="25" name="Text 23"/>
          <p:cNvSpPr/>
          <p:nvPr/>
        </p:nvSpPr>
        <p:spPr>
          <a:xfrm>
            <a:off x="1828800" y="4434840"/>
            <a:ext cx="2057400" cy="548640"/>
          </a:xfrm>
          <a:prstGeom prst="rect">
            <a:avLst/>
          </a:prstGeom>
          <a:noFill/>
          <a:ln/>
        </p:spPr>
        <p:txBody>
          <a:bodyPr wrap="square" lIns="0" tIns="0" rIns="0" bIns="0" rtlCol="0" anchor="ctr"/>
          <a:lstStyle/>
          <a:p>
            <a:pPr algn="r" indent="0" marL="0">
              <a:buNone/>
            </a:pPr>
            <a:r>
              <a:rPr lang="en-US" sz="1500" b="1" dirty="0">
                <a:solidFill>
                  <a:srgbClr val="18181B"/>
                </a:solidFill>
                <a:latin typeface="Cairo" pitchFamily="34" charset="0"/>
                <a:ea typeface="Cairo" pitchFamily="34" charset="-122"/>
                <a:cs typeface="Cairo" pitchFamily="34" charset="-120"/>
              </a:rPr>
              <a:t>استعادة كلمة المرور (OTP)</a:t>
            </a:r>
            <a:endParaRPr lang="en-US" sz="1500" dirty="0"/>
          </a:p>
        </p:txBody>
      </p:sp>
      <p:sp>
        <p:nvSpPr>
          <p:cNvPr id="26" name="Text 24"/>
          <p:cNvSpPr/>
          <p:nvPr/>
        </p:nvSpPr>
        <p:spPr>
          <a:xfrm>
            <a:off x="914400" y="5257800"/>
            <a:ext cx="2880360" cy="594360"/>
          </a:xfrm>
          <a:prstGeom prst="rect">
            <a:avLst/>
          </a:prstGeom>
          <a:noFill/>
          <a:ln/>
        </p:spPr>
        <p:txBody>
          <a:bodyPr wrap="square" lIns="0" tIns="0" rIns="0" bIns="0" rtlCol="0" anchor="ctr"/>
          <a:lstStyle/>
          <a:p>
            <a:pPr algn="r" indent="0" marL="0">
              <a:buNone/>
            </a:pPr>
            <a:r>
              <a:rPr lang="en-US" sz="1250" dirty="0">
                <a:solidFill>
                  <a:srgbClr val="52525B"/>
                </a:solidFill>
                <a:latin typeface="Cairo" pitchFamily="34" charset="0"/>
                <a:ea typeface="Cairo" pitchFamily="34" charset="-122"/>
                <a:cs typeface="Cairo" pitchFamily="34" charset="-120"/>
              </a:rPr>
              <a:t>عبر البريد أو واتساب، برمز لمرة واحدة.</a:t>
            </a:r>
            <a:endParaRPr lang="en-US" sz="1250" dirty="0"/>
          </a:p>
        </p:txBody>
      </p:sp>
      <p:sp>
        <p:nvSpPr>
          <p:cNvPr id="27" name="Shape 25"/>
          <p:cNvSpPr/>
          <p:nvPr/>
        </p:nvSpPr>
        <p:spPr>
          <a:xfrm>
            <a:off x="4434840" y="4160520"/>
            <a:ext cx="3429000" cy="1783080"/>
          </a:xfrm>
          <a:prstGeom prst="roundRect">
            <a:avLst>
              <a:gd name="adj" fmla="val 7179"/>
            </a:avLst>
          </a:prstGeom>
          <a:solidFill>
            <a:srgbClr val="F8FAFC"/>
          </a:solidFill>
          <a:ln w="12700">
            <a:solidFill>
              <a:srgbClr val="E4E4E7"/>
            </a:solidFill>
            <a:prstDash val="solid"/>
          </a:ln>
        </p:spPr>
      </p:sp>
      <p:sp>
        <p:nvSpPr>
          <p:cNvPr id="28" name="Shape 26"/>
          <p:cNvSpPr/>
          <p:nvPr/>
        </p:nvSpPr>
        <p:spPr>
          <a:xfrm>
            <a:off x="4709160" y="4480560"/>
            <a:ext cx="777240" cy="777240"/>
          </a:xfrm>
          <a:prstGeom prst="ellipse">
            <a:avLst/>
          </a:prstGeom>
          <a:solidFill>
            <a:srgbClr val="FFF3E9"/>
          </a:solidFill>
          <a:ln/>
        </p:spPr>
      </p:sp>
      <p:sp>
        <p:nvSpPr>
          <p:cNvPr id="29" name="Text 27"/>
          <p:cNvSpPr/>
          <p:nvPr/>
        </p:nvSpPr>
        <p:spPr>
          <a:xfrm>
            <a:off x="4709160" y="4480560"/>
            <a:ext cx="777240" cy="777240"/>
          </a:xfrm>
          <a:prstGeom prst="rect">
            <a:avLst/>
          </a:prstGeom>
          <a:noFill/>
          <a:ln/>
        </p:spPr>
        <p:txBody>
          <a:bodyPr wrap="square" lIns="0" tIns="0" rIns="0" bIns="0" rtlCol="0" anchor="ctr"/>
          <a:lstStyle/>
          <a:p>
            <a:pPr algn="ctr" indent="0" marL="0">
              <a:buNone/>
            </a:pPr>
            <a:r>
              <a:rPr lang="en-US" b="1" dirty="0">
                <a:solidFill>
                  <a:srgbClr val="EA580C"/>
                </a:solidFill>
                <a:latin typeface="Calibri" pitchFamily="34" charset="0"/>
                <a:ea typeface="Calibri" pitchFamily="34" charset="-122"/>
                <a:cs typeface="Calibri" pitchFamily="34" charset="-120"/>
              </a:rPr>
              <a:t>📄</a:t>
            </a:r>
            <a:endParaRPr lang="en-US" dirty="0"/>
          </a:p>
        </p:txBody>
      </p:sp>
      <p:sp>
        <p:nvSpPr>
          <p:cNvPr id="30" name="Text 28"/>
          <p:cNvSpPr/>
          <p:nvPr/>
        </p:nvSpPr>
        <p:spPr>
          <a:xfrm>
            <a:off x="5623560" y="4434840"/>
            <a:ext cx="2057400" cy="548640"/>
          </a:xfrm>
          <a:prstGeom prst="rect">
            <a:avLst/>
          </a:prstGeom>
          <a:noFill/>
          <a:ln/>
        </p:spPr>
        <p:txBody>
          <a:bodyPr wrap="square" lIns="0" tIns="0" rIns="0" bIns="0" rtlCol="0" anchor="ctr"/>
          <a:lstStyle/>
          <a:p>
            <a:pPr algn="r" indent="0" marL="0">
              <a:buNone/>
            </a:pPr>
            <a:r>
              <a:rPr lang="en-US" sz="1500" b="1" dirty="0">
                <a:solidFill>
                  <a:srgbClr val="18181B"/>
                </a:solidFill>
                <a:latin typeface="Cairo" pitchFamily="34" charset="0"/>
                <a:ea typeface="Cairo" pitchFamily="34" charset="-122"/>
                <a:cs typeface="Cairo" pitchFamily="34" charset="-120"/>
              </a:rPr>
              <a:t>تحقّق بصري</a:t>
            </a:r>
            <a:endParaRPr lang="en-US" sz="1500" dirty="0"/>
          </a:p>
        </p:txBody>
      </p:sp>
      <p:sp>
        <p:nvSpPr>
          <p:cNvPr id="31" name="Text 29"/>
          <p:cNvSpPr/>
          <p:nvPr/>
        </p:nvSpPr>
        <p:spPr>
          <a:xfrm>
            <a:off x="4709160" y="5257800"/>
            <a:ext cx="2880360" cy="594360"/>
          </a:xfrm>
          <a:prstGeom prst="rect">
            <a:avLst/>
          </a:prstGeom>
          <a:noFill/>
          <a:ln/>
        </p:spPr>
        <p:txBody>
          <a:bodyPr wrap="square" lIns="0" tIns="0" rIns="0" bIns="0" rtlCol="0" anchor="ctr"/>
          <a:lstStyle/>
          <a:p>
            <a:pPr algn="r" indent="0" marL="0">
              <a:buNone/>
            </a:pPr>
            <a:r>
              <a:rPr lang="en-US" sz="1250" dirty="0">
                <a:solidFill>
                  <a:srgbClr val="52525B"/>
                </a:solidFill>
                <a:latin typeface="Cairo" pitchFamily="34" charset="0"/>
                <a:ea typeface="Cairo" pitchFamily="34" charset="-122"/>
                <a:cs typeface="Cairo" pitchFamily="34" charset="-120"/>
              </a:rPr>
              <a:t>إرفاق وثيقة ملكية للمساحة.</a:t>
            </a:r>
            <a:endParaRPr lang="en-US" sz="1250" dirty="0"/>
          </a:p>
        </p:txBody>
      </p:sp>
      <p:sp>
        <p:nvSpPr>
          <p:cNvPr id="32" name="Shape 30"/>
          <p:cNvSpPr/>
          <p:nvPr/>
        </p:nvSpPr>
        <p:spPr>
          <a:xfrm>
            <a:off x="8229600" y="4160520"/>
            <a:ext cx="3429000" cy="1783080"/>
          </a:xfrm>
          <a:prstGeom prst="roundRect">
            <a:avLst>
              <a:gd name="adj" fmla="val 7179"/>
            </a:avLst>
          </a:prstGeom>
          <a:solidFill>
            <a:srgbClr val="F8FAFC"/>
          </a:solidFill>
          <a:ln w="12700">
            <a:solidFill>
              <a:srgbClr val="E4E4E7"/>
            </a:solidFill>
            <a:prstDash val="solid"/>
          </a:ln>
        </p:spPr>
      </p:sp>
      <p:sp>
        <p:nvSpPr>
          <p:cNvPr id="33" name="Shape 31"/>
          <p:cNvSpPr/>
          <p:nvPr/>
        </p:nvSpPr>
        <p:spPr>
          <a:xfrm>
            <a:off x="8503920" y="4480560"/>
            <a:ext cx="777240" cy="777240"/>
          </a:xfrm>
          <a:prstGeom prst="ellipse">
            <a:avLst/>
          </a:prstGeom>
          <a:solidFill>
            <a:srgbClr val="FFF3E9"/>
          </a:solidFill>
          <a:ln/>
        </p:spPr>
      </p:sp>
      <p:sp>
        <p:nvSpPr>
          <p:cNvPr id="34" name="Text 32"/>
          <p:cNvSpPr/>
          <p:nvPr/>
        </p:nvSpPr>
        <p:spPr>
          <a:xfrm>
            <a:off x="8503920" y="4480560"/>
            <a:ext cx="777240" cy="777240"/>
          </a:xfrm>
          <a:prstGeom prst="rect">
            <a:avLst/>
          </a:prstGeom>
          <a:noFill/>
          <a:ln/>
        </p:spPr>
        <p:txBody>
          <a:bodyPr wrap="square" lIns="0" tIns="0" rIns="0" bIns="0" rtlCol="0" anchor="ctr"/>
          <a:lstStyle/>
          <a:p>
            <a:pPr algn="ctr" indent="0" marL="0">
              <a:buNone/>
            </a:pPr>
            <a:r>
              <a:rPr lang="en-US" b="1" dirty="0">
                <a:solidFill>
                  <a:srgbClr val="EA580C"/>
                </a:solidFill>
                <a:latin typeface="Calibri" pitchFamily="34" charset="0"/>
                <a:ea typeface="Calibri" pitchFamily="34" charset="-122"/>
                <a:cs typeface="Calibri" pitchFamily="34" charset="-120"/>
              </a:rPr>
              <a:t>⏱</a:t>
            </a:r>
            <a:endParaRPr lang="en-US" dirty="0"/>
          </a:p>
        </p:txBody>
      </p:sp>
      <p:sp>
        <p:nvSpPr>
          <p:cNvPr id="35" name="Text 33"/>
          <p:cNvSpPr/>
          <p:nvPr/>
        </p:nvSpPr>
        <p:spPr>
          <a:xfrm>
            <a:off x="9418320" y="4434840"/>
            <a:ext cx="2057400" cy="548640"/>
          </a:xfrm>
          <a:prstGeom prst="rect">
            <a:avLst/>
          </a:prstGeom>
          <a:noFill/>
          <a:ln/>
        </p:spPr>
        <p:txBody>
          <a:bodyPr wrap="square" lIns="0" tIns="0" rIns="0" bIns="0" rtlCol="0" anchor="ctr"/>
          <a:lstStyle/>
          <a:p>
            <a:pPr algn="r" indent="0" marL="0">
              <a:buNone/>
            </a:pPr>
            <a:r>
              <a:rPr lang="en-US" sz="1500" b="1" dirty="0">
                <a:solidFill>
                  <a:srgbClr val="18181B"/>
                </a:solidFill>
                <a:latin typeface="Cairo" pitchFamily="34" charset="0"/>
                <a:ea typeface="Cairo" pitchFamily="34" charset="-122"/>
                <a:cs typeface="Cairo" pitchFamily="34" charset="-120"/>
              </a:rPr>
              <a:t>حجز سريع</a:t>
            </a:r>
            <a:endParaRPr lang="en-US" sz="1500" dirty="0"/>
          </a:p>
        </p:txBody>
      </p:sp>
      <p:sp>
        <p:nvSpPr>
          <p:cNvPr id="36" name="Text 34"/>
          <p:cNvSpPr/>
          <p:nvPr/>
        </p:nvSpPr>
        <p:spPr>
          <a:xfrm>
            <a:off x="8503920" y="5257800"/>
            <a:ext cx="2880360" cy="594360"/>
          </a:xfrm>
          <a:prstGeom prst="rect">
            <a:avLst/>
          </a:prstGeom>
          <a:noFill/>
          <a:ln/>
        </p:spPr>
        <p:txBody>
          <a:bodyPr wrap="square" lIns="0" tIns="0" rIns="0" bIns="0" rtlCol="0" anchor="ctr"/>
          <a:lstStyle/>
          <a:p>
            <a:pPr algn="r" indent="0" marL="0">
              <a:buNone/>
            </a:pPr>
            <a:r>
              <a:rPr lang="en-US" sz="1250" dirty="0">
                <a:solidFill>
                  <a:srgbClr val="52525B"/>
                </a:solidFill>
                <a:latin typeface="Cairo" pitchFamily="34" charset="0"/>
                <a:ea typeface="Cairo" pitchFamily="34" charset="-122"/>
                <a:cs typeface="Cairo" pitchFamily="34" charset="-120"/>
              </a:rPr>
              <a:t>حجز مقعد خلال ~5 دقائق.</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881360" cy="822960"/>
          </a:xfrm>
          <a:prstGeom prst="rect">
            <a:avLst/>
          </a:prstGeom>
          <a:noFill/>
          <a:ln/>
        </p:spPr>
        <p:txBody>
          <a:bodyPr wrap="square" lIns="0" tIns="0" rIns="0" bIns="0" rtlCol="0" anchor="ctr"/>
          <a:lstStyle/>
          <a:p>
            <a:pPr algn="r" indent="0" marL="0">
              <a:buNone/>
            </a:pPr>
            <a:r>
              <a:rPr lang="en-US" sz="3200" b="1" dirty="0">
                <a:solidFill>
                  <a:srgbClr val="0A0A0A"/>
                </a:solidFill>
                <a:latin typeface="Cairo" pitchFamily="34" charset="0"/>
                <a:ea typeface="Cairo" pitchFamily="34" charset="-122"/>
                <a:cs typeface="Cairo" pitchFamily="34" charset="-120"/>
              </a:rPr>
              <a:t>الواجهة: الصفحة الرئيسية</a:t>
            </a:r>
            <a:endParaRPr lang="en-US" sz="3200" dirty="0"/>
          </a:p>
        </p:txBody>
      </p:sp>
      <p:sp>
        <p:nvSpPr>
          <p:cNvPr id="3" name="Text 1"/>
          <p:cNvSpPr/>
          <p:nvPr/>
        </p:nvSpPr>
        <p:spPr>
          <a:xfrm>
            <a:off x="640080" y="1344168"/>
            <a:ext cx="10881360" cy="365760"/>
          </a:xfrm>
          <a:prstGeom prst="rect">
            <a:avLst/>
          </a:prstGeom>
          <a:noFill/>
          <a:ln/>
        </p:spPr>
        <p:txBody>
          <a:bodyPr wrap="square" lIns="0" tIns="0" rIns="0" bIns="0" rtlCol="0" anchor="ctr"/>
          <a:lstStyle/>
          <a:p>
            <a:pPr algn="r" indent="0" marL="0">
              <a:buNone/>
            </a:pPr>
            <a:r>
              <a:rPr lang="en-US" sz="1300" spc="100" kern="0" dirty="0">
                <a:solidFill>
                  <a:srgbClr val="EA580C"/>
                </a:solidFill>
                <a:latin typeface="Calibri" pitchFamily="34" charset="0"/>
                <a:ea typeface="Calibri" pitchFamily="34" charset="-122"/>
                <a:cs typeface="Calibri" pitchFamily="34" charset="-120"/>
              </a:rPr>
              <a:t>SHOWCASE — LANDING PAGE</a:t>
            </a:r>
            <a:endParaRPr lang="en-US" sz="1300" dirty="0"/>
          </a:p>
        </p:txBody>
      </p:sp>
      <p:sp>
        <p:nvSpPr>
          <p:cNvPr id="4" name="Shape 2"/>
          <p:cNvSpPr/>
          <p:nvPr/>
        </p:nvSpPr>
        <p:spPr>
          <a:xfrm>
            <a:off x="658368" y="612648"/>
            <a:ext cx="164592" cy="164592"/>
          </a:xfrm>
          <a:prstGeom prst="ellipse">
            <a:avLst/>
          </a:prstGeom>
          <a:solidFill>
            <a:srgbClr val="F97316"/>
          </a:solidFill>
          <a:ln/>
        </p:spPr>
      </p:sp>
      <p:sp>
        <p:nvSpPr>
          <p:cNvPr id="5" name="Text 3"/>
          <p:cNvSpPr/>
          <p:nvPr/>
        </p:nvSpPr>
        <p:spPr>
          <a:xfrm>
            <a:off x="640080" y="6446520"/>
            <a:ext cx="8229600" cy="320040"/>
          </a:xfrm>
          <a:prstGeom prst="rect">
            <a:avLst/>
          </a:prstGeom>
          <a:noFill/>
          <a:ln/>
        </p:spPr>
        <p:txBody>
          <a:bodyPr wrap="square" lIns="0" tIns="0" rIns="0" bIns="0" rtlCol="0" anchor="ctr"/>
          <a:lstStyle/>
          <a:p>
            <a:pPr algn="r" indent="0" marL="0">
              <a:buNone/>
            </a:pPr>
            <a:r>
              <a:rPr lang="en-US" sz="900" dirty="0">
                <a:solidFill>
                  <a:srgbClr val="52525B"/>
                </a:solidFill>
                <a:latin typeface="Cairo" pitchFamily="34" charset="0"/>
                <a:ea typeface="Cairo" pitchFamily="34" charset="-122"/>
                <a:cs typeface="Cairo" pitchFamily="34" charset="-120"/>
              </a:rPr>
              <a:t>مساحاتي | Masahati</a:t>
            </a:r>
            <a:pPr algn="r" indent="0" marL="0">
              <a:buNone/>
            </a:pPr>
            <a:r>
              <a:rPr lang="en-US" sz="900" dirty="0">
                <a:solidFill>
                  <a:srgbClr val="52525B"/>
                </a:solidFill>
                <a:latin typeface="Cairo" pitchFamily="34" charset="0"/>
                <a:ea typeface="Cairo" pitchFamily="34" charset="-122"/>
                <a:cs typeface="Cairo" pitchFamily="34" charset="-120"/>
              </a:rPr>
              <a:t>    •    منصّة مساحات العمل المشتركة في غزة</a:t>
            </a:r>
            <a:endParaRPr lang="en-US" sz="900" dirty="0"/>
          </a:p>
        </p:txBody>
      </p:sp>
      <p:sp>
        <p:nvSpPr>
          <p:cNvPr id="6" name="Text 4"/>
          <p:cNvSpPr/>
          <p:nvPr/>
        </p:nvSpPr>
        <p:spPr>
          <a:xfrm>
            <a:off x="11247120" y="6446520"/>
            <a:ext cx="457200" cy="320040"/>
          </a:xfrm>
          <a:prstGeom prst="rect">
            <a:avLst/>
          </a:prstGeom>
          <a:noFill/>
          <a:ln/>
        </p:spPr>
        <p:txBody>
          <a:bodyPr wrap="square" lIns="0" tIns="0" rIns="0" bIns="0" rtlCol="0" anchor="ctr"/>
          <a:lstStyle/>
          <a:p>
            <a:pPr algn="ctr" indent="0" marL="0">
              <a:buNone/>
            </a:pPr>
            <a:r>
              <a:rPr lang="en-US" sz="900" dirty="0">
                <a:solidFill>
                  <a:srgbClr val="52525B"/>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640080" y="2194560"/>
            <a:ext cx="4389120" cy="3200400"/>
          </a:xfrm>
          <a:prstGeom prst="rect">
            <a:avLst/>
          </a:prstGeom>
          <a:noFill/>
          <a:ln/>
        </p:spPr>
        <p:txBody>
          <a:bodyPr wrap="square" lIns="0" tIns="0" rIns="0" bIns="0" rtlCol="0" anchor="t"/>
          <a:lstStyle/>
          <a:p>
            <a:pPr algn="r" marL="228600" indent="-228600">
              <a:lnSpc>
                <a:spcPct val="105000"/>
              </a:lnSpc>
              <a:spcAft>
                <a:spcPts val="1400"/>
              </a:spcAft>
              <a:buSzPct val="100000"/>
              <a:buChar char="•"/>
            </a:pPr>
            <a:r>
              <a:rPr lang="en-US" sz="1500" dirty="0">
                <a:solidFill>
                  <a:srgbClr val="18181B"/>
                </a:solidFill>
                <a:latin typeface="Cairo" pitchFamily="34" charset="0"/>
                <a:ea typeface="Cairo" pitchFamily="34" charset="-122"/>
                <a:cs typeface="Cairo" pitchFamily="34" charset="-120"/>
              </a:rPr>
              <a:t>هيرو بخلفية متحركة (crossfade) مع عنوان واضح.</a:t>
            </a:r>
            <a:endParaRPr lang="en-US" sz="1500" dirty="0"/>
          </a:p>
          <a:p>
            <a:pPr algn="r" marL="228600" indent="-228600">
              <a:lnSpc>
                <a:spcPct val="105000"/>
              </a:lnSpc>
              <a:spcAft>
                <a:spcPts val="1400"/>
              </a:spcAft>
              <a:buSzPct val="100000"/>
              <a:buChar char="•"/>
            </a:pPr>
            <a:r>
              <a:rPr lang="en-US" sz="1500" dirty="0">
                <a:solidFill>
                  <a:srgbClr val="18181B"/>
                </a:solidFill>
                <a:latin typeface="Cairo" pitchFamily="34" charset="0"/>
                <a:ea typeface="Cairo" pitchFamily="34" charset="-122"/>
                <a:cs typeface="Cairo" pitchFamily="34" charset="-120"/>
              </a:rPr>
              <a:t>إحصائيات حيّة (CountUp) عند التمرير.</a:t>
            </a:r>
            <a:endParaRPr lang="en-US" sz="1500" dirty="0"/>
          </a:p>
          <a:p>
            <a:pPr algn="r" marL="228600" indent="-228600">
              <a:lnSpc>
                <a:spcPct val="105000"/>
              </a:lnSpc>
              <a:spcAft>
                <a:spcPts val="1400"/>
              </a:spcAft>
              <a:buSzPct val="100000"/>
              <a:buChar char="•"/>
            </a:pPr>
            <a:r>
              <a:rPr lang="en-US" sz="1500" dirty="0">
                <a:solidFill>
                  <a:srgbClr val="18181B"/>
                </a:solidFill>
                <a:latin typeface="Cairo" pitchFamily="34" charset="0"/>
                <a:ea typeface="Cairo" pitchFamily="34" charset="-122"/>
                <a:cs typeface="Cairo" pitchFamily="34" charset="-120"/>
              </a:rPr>
              <a:t>أقسام: الميزات، كيف يعمل، الأدوار، من نحن.</a:t>
            </a:r>
            <a:endParaRPr lang="en-US" sz="1500" dirty="0"/>
          </a:p>
          <a:p>
            <a:pPr algn="r" marL="228600" indent="-228600">
              <a:lnSpc>
                <a:spcPct val="105000"/>
              </a:lnSpc>
              <a:spcAft>
                <a:spcPts val="1400"/>
              </a:spcAft>
              <a:buSzPct val="100000"/>
              <a:buChar char="•"/>
            </a:pPr>
            <a:r>
              <a:rPr lang="en-US" sz="1500" dirty="0">
                <a:solidFill>
                  <a:srgbClr val="18181B"/>
                </a:solidFill>
                <a:latin typeface="Cairo" pitchFamily="34" charset="0"/>
                <a:ea typeface="Cairo" pitchFamily="34" charset="-122"/>
                <a:cs typeface="Cairo" pitchFamily="34" charset="-120"/>
              </a:rPr>
              <a:t>شريط تنقّل زجاجي (liquid glass) عند التمرير.</a:t>
            </a:r>
            <a:endParaRPr lang="en-US" sz="1500" dirty="0"/>
          </a:p>
        </p:txBody>
      </p:sp>
      <p:sp>
        <p:nvSpPr>
          <p:cNvPr id="8" name="Text 6"/>
          <p:cNvSpPr/>
          <p:nvPr/>
        </p:nvSpPr>
        <p:spPr>
          <a:xfrm>
            <a:off x="640080" y="5669280"/>
            <a:ext cx="4389120" cy="457200"/>
          </a:xfrm>
          <a:prstGeom prst="rect">
            <a:avLst/>
          </a:prstGeom>
          <a:noFill/>
          <a:ln/>
        </p:spPr>
        <p:txBody>
          <a:bodyPr wrap="square" lIns="0" tIns="0" rIns="0" bIns="0" rtlCol="0" anchor="ctr"/>
          <a:lstStyle/>
          <a:p>
            <a:pPr algn="r" indent="0" marL="0">
              <a:buNone/>
            </a:pPr>
            <a:r>
              <a:rPr lang="en-US" sz="1300" i="1" dirty="0">
                <a:solidFill>
                  <a:srgbClr val="EA580C"/>
                </a:solidFill>
                <a:latin typeface="Cairo" pitchFamily="34" charset="0"/>
                <a:ea typeface="Cairo" pitchFamily="34" charset="-122"/>
                <a:cs typeface="Cairo" pitchFamily="34" charset="-120"/>
              </a:rPr>
              <a:t>متجاوب بالكامل مع تفضيل تقليل الحركة.</a:t>
            </a:r>
            <a:endParaRPr lang="en-US" sz="1300" dirty="0"/>
          </a:p>
        </p:txBody>
      </p:sp>
      <p:sp>
        <p:nvSpPr>
          <p:cNvPr id="9" name="Shape 7"/>
          <p:cNvSpPr/>
          <p:nvPr/>
        </p:nvSpPr>
        <p:spPr>
          <a:xfrm>
            <a:off x="5102352" y="1571422"/>
            <a:ext cx="6986016" cy="3715155"/>
          </a:xfrm>
          <a:prstGeom prst="roundRect">
            <a:avLst>
              <a:gd name="adj" fmla="val 2954"/>
            </a:avLst>
          </a:prstGeom>
          <a:solidFill>
            <a:srgbClr val="FFFFFF"/>
          </a:solidFill>
          <a:ln w="12700">
            <a:solidFill>
              <a:srgbClr val="E4E4E7"/>
            </a:solidFill>
            <a:prstDash val="solid"/>
          </a:ln>
          <a:effectLst>
            <a:outerShdw sx="100000" sy="100000" kx="0" ky="0" algn="bl" rotWithShape="0" blurRad="203200" dist="63500" dir="5400000">
              <a:srgbClr val="000000">
                <a:alpha val="18000"/>
              </a:srgbClr>
            </a:outerShdw>
          </a:effectLst>
        </p:spPr>
      </p:sp>
      <p:pic>
        <p:nvPicPr>
          <p:cNvPr id="10" name="Image 0" descr="C:\Users\Karam\Desktop\masahati\presentation\screenshots\landing.png">    </p:cNvPr>
          <p:cNvPicPr>
            <a:picLocks noChangeAspect="1"/>
          </p:cNvPicPr>
          <p:nvPr/>
        </p:nvPicPr>
        <p:blipFill>
          <a:blip r:embed="rId1"/>
          <a:stretch>
            <a:fillRect/>
          </a:stretch>
        </p:blipFill>
        <p:spPr>
          <a:xfrm>
            <a:off x="5212080" y="1681150"/>
            <a:ext cx="6766560" cy="34956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502920"/>
            <a:ext cx="10881360" cy="822960"/>
          </a:xfrm>
          <a:prstGeom prst="rect">
            <a:avLst/>
          </a:prstGeom>
          <a:noFill/>
          <a:ln/>
        </p:spPr>
        <p:txBody>
          <a:bodyPr wrap="square" lIns="0" tIns="0" rIns="0" bIns="0" rtlCol="0" anchor="ctr"/>
          <a:lstStyle/>
          <a:p>
            <a:pPr algn="r" indent="0" marL="0">
              <a:buNone/>
            </a:pPr>
            <a:r>
              <a:rPr lang="en-US" sz="3200" b="1" dirty="0">
                <a:solidFill>
                  <a:srgbClr val="0A0A0A"/>
                </a:solidFill>
                <a:latin typeface="Cairo" pitchFamily="34" charset="0"/>
                <a:ea typeface="Cairo" pitchFamily="34" charset="-122"/>
                <a:cs typeface="Cairo" pitchFamily="34" charset="-120"/>
              </a:rPr>
              <a:t>تجربة الدخول والحساب</a:t>
            </a:r>
            <a:endParaRPr lang="en-US" sz="3200" dirty="0"/>
          </a:p>
        </p:txBody>
      </p:sp>
      <p:sp>
        <p:nvSpPr>
          <p:cNvPr id="3" name="Text 1"/>
          <p:cNvSpPr/>
          <p:nvPr/>
        </p:nvSpPr>
        <p:spPr>
          <a:xfrm>
            <a:off x="640080" y="1344168"/>
            <a:ext cx="10881360" cy="365760"/>
          </a:xfrm>
          <a:prstGeom prst="rect">
            <a:avLst/>
          </a:prstGeom>
          <a:noFill/>
          <a:ln/>
        </p:spPr>
        <p:txBody>
          <a:bodyPr wrap="square" lIns="0" tIns="0" rIns="0" bIns="0" rtlCol="0" anchor="ctr"/>
          <a:lstStyle/>
          <a:p>
            <a:pPr algn="r" indent="0" marL="0">
              <a:buNone/>
            </a:pPr>
            <a:r>
              <a:rPr lang="en-US" sz="1300" spc="100" kern="0" dirty="0">
                <a:solidFill>
                  <a:srgbClr val="EA580C"/>
                </a:solidFill>
                <a:latin typeface="Calibri" pitchFamily="34" charset="0"/>
                <a:ea typeface="Calibri" pitchFamily="34" charset="-122"/>
                <a:cs typeface="Calibri" pitchFamily="34" charset="-120"/>
              </a:rPr>
              <a:t>SHOWCASE — AUTHENTICATION</a:t>
            </a:r>
            <a:endParaRPr lang="en-US" sz="1300" dirty="0"/>
          </a:p>
        </p:txBody>
      </p:sp>
      <p:sp>
        <p:nvSpPr>
          <p:cNvPr id="4" name="Shape 2"/>
          <p:cNvSpPr/>
          <p:nvPr/>
        </p:nvSpPr>
        <p:spPr>
          <a:xfrm>
            <a:off x="658368" y="612648"/>
            <a:ext cx="164592" cy="164592"/>
          </a:xfrm>
          <a:prstGeom prst="ellipse">
            <a:avLst/>
          </a:prstGeom>
          <a:solidFill>
            <a:srgbClr val="F97316"/>
          </a:solidFill>
          <a:ln/>
        </p:spPr>
      </p:sp>
      <p:sp>
        <p:nvSpPr>
          <p:cNvPr id="5" name="Text 3"/>
          <p:cNvSpPr/>
          <p:nvPr/>
        </p:nvSpPr>
        <p:spPr>
          <a:xfrm>
            <a:off x="640080" y="6446520"/>
            <a:ext cx="8229600" cy="320040"/>
          </a:xfrm>
          <a:prstGeom prst="rect">
            <a:avLst/>
          </a:prstGeom>
          <a:noFill/>
          <a:ln/>
        </p:spPr>
        <p:txBody>
          <a:bodyPr wrap="square" lIns="0" tIns="0" rIns="0" bIns="0" rtlCol="0" anchor="ctr"/>
          <a:lstStyle/>
          <a:p>
            <a:pPr algn="r" indent="0" marL="0">
              <a:buNone/>
            </a:pPr>
            <a:r>
              <a:rPr lang="en-US" sz="900" dirty="0">
                <a:solidFill>
                  <a:srgbClr val="52525B"/>
                </a:solidFill>
                <a:latin typeface="Cairo" pitchFamily="34" charset="0"/>
                <a:ea typeface="Cairo" pitchFamily="34" charset="-122"/>
                <a:cs typeface="Cairo" pitchFamily="34" charset="-120"/>
              </a:rPr>
              <a:t>مساحاتي | Masahati</a:t>
            </a:r>
            <a:pPr algn="r" indent="0" marL="0">
              <a:buNone/>
            </a:pPr>
            <a:r>
              <a:rPr lang="en-US" sz="900" dirty="0">
                <a:solidFill>
                  <a:srgbClr val="52525B"/>
                </a:solidFill>
                <a:latin typeface="Cairo" pitchFamily="34" charset="0"/>
                <a:ea typeface="Cairo" pitchFamily="34" charset="-122"/>
                <a:cs typeface="Cairo" pitchFamily="34" charset="-120"/>
              </a:rPr>
              <a:t>    •    منصّة مساحات العمل المشتركة في غزة</a:t>
            </a:r>
            <a:endParaRPr lang="en-US" sz="900" dirty="0"/>
          </a:p>
        </p:txBody>
      </p:sp>
      <p:sp>
        <p:nvSpPr>
          <p:cNvPr id="6" name="Text 4"/>
          <p:cNvSpPr/>
          <p:nvPr/>
        </p:nvSpPr>
        <p:spPr>
          <a:xfrm>
            <a:off x="11247120" y="6446520"/>
            <a:ext cx="457200" cy="320040"/>
          </a:xfrm>
          <a:prstGeom prst="rect">
            <a:avLst/>
          </a:prstGeom>
          <a:noFill/>
          <a:ln/>
        </p:spPr>
        <p:txBody>
          <a:bodyPr wrap="square" lIns="0" tIns="0" rIns="0" bIns="0" rtlCol="0" anchor="ctr"/>
          <a:lstStyle/>
          <a:p>
            <a:pPr algn="ctr" indent="0" marL="0">
              <a:buNone/>
            </a:pPr>
            <a:r>
              <a:rPr lang="en-US" sz="900" dirty="0">
                <a:solidFill>
                  <a:srgbClr val="52525B"/>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265176" y="2057400"/>
            <a:ext cx="3703320" cy="1923604"/>
          </a:xfrm>
          <a:prstGeom prst="roundRect">
            <a:avLst>
              <a:gd name="adj" fmla="val 4754"/>
            </a:avLst>
          </a:prstGeom>
          <a:solidFill>
            <a:srgbClr val="FFFFFF"/>
          </a:solidFill>
          <a:ln w="12700">
            <a:solidFill>
              <a:srgbClr val="E4E4E7"/>
            </a:solidFill>
            <a:prstDash val="solid"/>
          </a:ln>
          <a:effectLst>
            <a:outerShdw sx="100000" sy="100000" kx="0" ky="0" algn="bl" rotWithShape="0" blurRad="152400" dist="50800" dir="5400000">
              <a:srgbClr val="000000">
                <a:alpha val="16000"/>
              </a:srgbClr>
            </a:outerShdw>
          </a:effectLst>
        </p:spPr>
      </p:sp>
      <p:pic>
        <p:nvPicPr>
          <p:cNvPr id="8" name="Image 0" descr="C:\Users\Karam\Desktop\masahati\presentation\screenshots\login.png">    </p:cNvPr>
          <p:cNvPicPr>
            <a:picLocks noChangeAspect="1"/>
          </p:cNvPicPr>
          <p:nvPr/>
        </p:nvPicPr>
        <p:blipFill>
          <a:blip r:embed="rId1"/>
          <a:stretch>
            <a:fillRect/>
          </a:stretch>
        </p:blipFill>
        <p:spPr>
          <a:xfrm>
            <a:off x="356616" y="2148840"/>
            <a:ext cx="3520440" cy="1740724"/>
          </a:xfrm>
          <a:prstGeom prst="rect">
            <a:avLst/>
          </a:prstGeom>
        </p:spPr>
      </p:pic>
      <p:sp>
        <p:nvSpPr>
          <p:cNvPr id="9" name="Text 6"/>
          <p:cNvSpPr/>
          <p:nvPr/>
        </p:nvSpPr>
        <p:spPr>
          <a:xfrm>
            <a:off x="356616" y="4054156"/>
            <a:ext cx="3520440" cy="365760"/>
          </a:xfrm>
          <a:prstGeom prst="rect">
            <a:avLst/>
          </a:prstGeom>
          <a:noFill/>
          <a:ln/>
        </p:spPr>
        <p:txBody>
          <a:bodyPr wrap="square" lIns="0" tIns="0" rIns="0" bIns="0" rtlCol="0" anchor="ctr"/>
          <a:lstStyle/>
          <a:p>
            <a:pPr algn="ctr" indent="0" marL="0">
              <a:buNone/>
            </a:pPr>
            <a:r>
              <a:rPr lang="en-US" sz="1500" b="1" dirty="0">
                <a:solidFill>
                  <a:srgbClr val="18181B"/>
                </a:solidFill>
                <a:latin typeface="Cairo" pitchFamily="34" charset="0"/>
                <a:ea typeface="Cairo" pitchFamily="34" charset="-122"/>
                <a:cs typeface="Cairo" pitchFamily="34" charset="-120"/>
              </a:rPr>
              <a:t>تسجيل الدخول</a:t>
            </a:r>
            <a:endParaRPr lang="en-US" sz="1500" dirty="0"/>
          </a:p>
        </p:txBody>
      </p:sp>
      <p:sp>
        <p:nvSpPr>
          <p:cNvPr id="10" name="Text 7"/>
          <p:cNvSpPr/>
          <p:nvPr/>
        </p:nvSpPr>
        <p:spPr>
          <a:xfrm>
            <a:off x="356616" y="4401628"/>
            <a:ext cx="3520440" cy="274320"/>
          </a:xfrm>
          <a:prstGeom prst="rect">
            <a:avLst/>
          </a:prstGeom>
          <a:noFill/>
          <a:ln/>
        </p:spPr>
        <p:txBody>
          <a:bodyPr wrap="square" lIns="0" tIns="0" rIns="0" bIns="0" rtlCol="0" anchor="ctr"/>
          <a:lstStyle/>
          <a:p>
            <a:pPr algn="ctr" indent="0" marL="0">
              <a:buNone/>
            </a:pPr>
            <a:r>
              <a:rPr lang="en-US" sz="1100" spc="100" kern="0" dirty="0">
                <a:solidFill>
                  <a:srgbClr val="EA580C"/>
                </a:solidFill>
                <a:latin typeface="Calibri" pitchFamily="34" charset="0"/>
                <a:ea typeface="Calibri" pitchFamily="34" charset="-122"/>
                <a:cs typeface="Calibri" pitchFamily="34" charset="-120"/>
              </a:rPr>
              <a:t>Login</a:t>
            </a:r>
            <a:endParaRPr lang="en-US" sz="1100" dirty="0"/>
          </a:p>
        </p:txBody>
      </p:sp>
      <p:sp>
        <p:nvSpPr>
          <p:cNvPr id="11" name="Shape 8"/>
          <p:cNvSpPr/>
          <p:nvPr/>
        </p:nvSpPr>
        <p:spPr>
          <a:xfrm>
            <a:off x="4242816" y="2057400"/>
            <a:ext cx="3703320" cy="1923604"/>
          </a:xfrm>
          <a:prstGeom prst="roundRect">
            <a:avLst>
              <a:gd name="adj" fmla="val 4754"/>
            </a:avLst>
          </a:prstGeom>
          <a:solidFill>
            <a:srgbClr val="FFFFFF"/>
          </a:solidFill>
          <a:ln w="12700">
            <a:solidFill>
              <a:srgbClr val="E4E4E7"/>
            </a:solidFill>
            <a:prstDash val="solid"/>
          </a:ln>
          <a:effectLst>
            <a:outerShdw sx="100000" sy="100000" kx="0" ky="0" algn="bl" rotWithShape="0" blurRad="152400" dist="50800" dir="5400000">
              <a:srgbClr val="000000">
                <a:alpha val="16000"/>
              </a:srgbClr>
            </a:outerShdw>
          </a:effectLst>
        </p:spPr>
      </p:sp>
      <p:pic>
        <p:nvPicPr>
          <p:cNvPr id="12" name="Image 1" descr="C:\Users\Karam\Desktop\masahati\presentation\screenshots\signup.png">    </p:cNvPr>
          <p:cNvPicPr>
            <a:picLocks noChangeAspect="1"/>
          </p:cNvPicPr>
          <p:nvPr/>
        </p:nvPicPr>
        <p:blipFill>
          <a:blip r:embed="rId2"/>
          <a:stretch>
            <a:fillRect/>
          </a:stretch>
        </p:blipFill>
        <p:spPr>
          <a:xfrm>
            <a:off x="4334256" y="2148840"/>
            <a:ext cx="3520440" cy="1740724"/>
          </a:xfrm>
          <a:prstGeom prst="rect">
            <a:avLst/>
          </a:prstGeom>
        </p:spPr>
      </p:pic>
      <p:sp>
        <p:nvSpPr>
          <p:cNvPr id="13" name="Text 9"/>
          <p:cNvSpPr/>
          <p:nvPr/>
        </p:nvSpPr>
        <p:spPr>
          <a:xfrm>
            <a:off x="4334256" y="4054156"/>
            <a:ext cx="3520440" cy="365760"/>
          </a:xfrm>
          <a:prstGeom prst="rect">
            <a:avLst/>
          </a:prstGeom>
          <a:noFill/>
          <a:ln/>
        </p:spPr>
        <p:txBody>
          <a:bodyPr wrap="square" lIns="0" tIns="0" rIns="0" bIns="0" rtlCol="0" anchor="ctr"/>
          <a:lstStyle/>
          <a:p>
            <a:pPr algn="ctr" indent="0" marL="0">
              <a:buNone/>
            </a:pPr>
            <a:r>
              <a:rPr lang="en-US" sz="1500" b="1" dirty="0">
                <a:solidFill>
                  <a:srgbClr val="18181B"/>
                </a:solidFill>
                <a:latin typeface="Cairo" pitchFamily="34" charset="0"/>
                <a:ea typeface="Cairo" pitchFamily="34" charset="-122"/>
                <a:cs typeface="Cairo" pitchFamily="34" charset="-120"/>
              </a:rPr>
              <a:t>إنشاء حساب</a:t>
            </a:r>
            <a:endParaRPr lang="en-US" sz="1500" dirty="0"/>
          </a:p>
        </p:txBody>
      </p:sp>
      <p:sp>
        <p:nvSpPr>
          <p:cNvPr id="14" name="Text 10"/>
          <p:cNvSpPr/>
          <p:nvPr/>
        </p:nvSpPr>
        <p:spPr>
          <a:xfrm>
            <a:off x="4334256" y="4401628"/>
            <a:ext cx="3520440" cy="274320"/>
          </a:xfrm>
          <a:prstGeom prst="rect">
            <a:avLst/>
          </a:prstGeom>
          <a:noFill/>
          <a:ln/>
        </p:spPr>
        <p:txBody>
          <a:bodyPr wrap="square" lIns="0" tIns="0" rIns="0" bIns="0" rtlCol="0" anchor="ctr"/>
          <a:lstStyle/>
          <a:p>
            <a:pPr algn="ctr" indent="0" marL="0">
              <a:buNone/>
            </a:pPr>
            <a:r>
              <a:rPr lang="en-US" sz="1100" spc="100" kern="0" dirty="0">
                <a:solidFill>
                  <a:srgbClr val="EA580C"/>
                </a:solidFill>
                <a:latin typeface="Calibri" pitchFamily="34" charset="0"/>
                <a:ea typeface="Calibri" pitchFamily="34" charset="-122"/>
                <a:cs typeface="Calibri" pitchFamily="34" charset="-120"/>
              </a:rPr>
              <a:t>Sign Up</a:t>
            </a:r>
            <a:endParaRPr lang="en-US" sz="1100" dirty="0"/>
          </a:p>
        </p:txBody>
      </p:sp>
      <p:sp>
        <p:nvSpPr>
          <p:cNvPr id="15" name="Shape 11"/>
          <p:cNvSpPr/>
          <p:nvPr/>
        </p:nvSpPr>
        <p:spPr>
          <a:xfrm>
            <a:off x="8220456" y="2057400"/>
            <a:ext cx="3703320" cy="1923604"/>
          </a:xfrm>
          <a:prstGeom prst="roundRect">
            <a:avLst>
              <a:gd name="adj" fmla="val 4754"/>
            </a:avLst>
          </a:prstGeom>
          <a:solidFill>
            <a:srgbClr val="FFFFFF"/>
          </a:solidFill>
          <a:ln w="12700">
            <a:solidFill>
              <a:srgbClr val="E4E4E7"/>
            </a:solidFill>
            <a:prstDash val="solid"/>
          </a:ln>
          <a:effectLst>
            <a:outerShdw sx="100000" sy="100000" kx="0" ky="0" algn="bl" rotWithShape="0" blurRad="152400" dist="50800" dir="5400000">
              <a:srgbClr val="000000">
                <a:alpha val="16000"/>
              </a:srgbClr>
            </a:outerShdw>
          </a:effectLst>
        </p:spPr>
      </p:sp>
      <p:pic>
        <p:nvPicPr>
          <p:cNvPr id="16" name="Image 2" descr="C:\Users\Karam\Desktop\masahati\presentation\screenshots\forgot.png">    </p:cNvPr>
          <p:cNvPicPr>
            <a:picLocks noChangeAspect="1"/>
          </p:cNvPicPr>
          <p:nvPr/>
        </p:nvPicPr>
        <p:blipFill>
          <a:blip r:embed="rId3"/>
          <a:stretch>
            <a:fillRect/>
          </a:stretch>
        </p:blipFill>
        <p:spPr>
          <a:xfrm>
            <a:off x="8311896" y="2148840"/>
            <a:ext cx="3520440" cy="1740724"/>
          </a:xfrm>
          <a:prstGeom prst="rect">
            <a:avLst/>
          </a:prstGeom>
        </p:spPr>
      </p:pic>
      <p:sp>
        <p:nvSpPr>
          <p:cNvPr id="17" name="Text 12"/>
          <p:cNvSpPr/>
          <p:nvPr/>
        </p:nvSpPr>
        <p:spPr>
          <a:xfrm>
            <a:off x="8311896" y="4054156"/>
            <a:ext cx="3520440" cy="365760"/>
          </a:xfrm>
          <a:prstGeom prst="rect">
            <a:avLst/>
          </a:prstGeom>
          <a:noFill/>
          <a:ln/>
        </p:spPr>
        <p:txBody>
          <a:bodyPr wrap="square" lIns="0" tIns="0" rIns="0" bIns="0" rtlCol="0" anchor="ctr"/>
          <a:lstStyle/>
          <a:p>
            <a:pPr algn="ctr" indent="0" marL="0">
              <a:buNone/>
            </a:pPr>
            <a:r>
              <a:rPr lang="en-US" sz="1500" b="1" dirty="0">
                <a:solidFill>
                  <a:srgbClr val="18181B"/>
                </a:solidFill>
                <a:latin typeface="Cairo" pitchFamily="34" charset="0"/>
                <a:ea typeface="Cairo" pitchFamily="34" charset="-122"/>
                <a:cs typeface="Cairo" pitchFamily="34" charset="-120"/>
              </a:rPr>
              <a:t>نسيت كلمة المرور</a:t>
            </a:r>
            <a:endParaRPr lang="en-US" sz="1500" dirty="0"/>
          </a:p>
        </p:txBody>
      </p:sp>
      <p:sp>
        <p:nvSpPr>
          <p:cNvPr id="18" name="Text 13"/>
          <p:cNvSpPr/>
          <p:nvPr/>
        </p:nvSpPr>
        <p:spPr>
          <a:xfrm>
            <a:off x="8311896" y="4401628"/>
            <a:ext cx="3520440" cy="274320"/>
          </a:xfrm>
          <a:prstGeom prst="rect">
            <a:avLst/>
          </a:prstGeom>
          <a:noFill/>
          <a:ln/>
        </p:spPr>
        <p:txBody>
          <a:bodyPr wrap="square" lIns="0" tIns="0" rIns="0" bIns="0" rtlCol="0" anchor="ctr"/>
          <a:lstStyle/>
          <a:p>
            <a:pPr algn="ctr" indent="0" marL="0">
              <a:buNone/>
            </a:pPr>
            <a:r>
              <a:rPr lang="en-US" sz="1100" spc="100" kern="0" dirty="0">
                <a:solidFill>
                  <a:srgbClr val="EA580C"/>
                </a:solidFill>
                <a:latin typeface="Calibri" pitchFamily="34" charset="0"/>
                <a:ea typeface="Calibri" pitchFamily="34" charset="-122"/>
                <a:cs typeface="Calibri" pitchFamily="34" charset="-120"/>
              </a:rPr>
              <a:t>Forgot Password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881360" cy="822960"/>
          </a:xfrm>
          <a:prstGeom prst="rect">
            <a:avLst/>
          </a:prstGeom>
          <a:noFill/>
          <a:ln/>
        </p:spPr>
        <p:txBody>
          <a:bodyPr wrap="square" lIns="0" tIns="0" rIns="0" bIns="0" rtlCol="0" anchor="ctr"/>
          <a:lstStyle/>
          <a:p>
            <a:pPr algn="r" indent="0" marL="0">
              <a:buNone/>
            </a:pPr>
            <a:r>
              <a:rPr lang="en-US" sz="3200" b="1" dirty="0">
                <a:solidFill>
                  <a:srgbClr val="0A0A0A"/>
                </a:solidFill>
                <a:latin typeface="Cairo" pitchFamily="34" charset="0"/>
                <a:ea typeface="Cairo" pitchFamily="34" charset="-122"/>
                <a:cs typeface="Cairo" pitchFamily="34" charset="-120"/>
              </a:rPr>
              <a:t>الأدوار: كلٌّ كما يناسبه</a:t>
            </a:r>
            <a:endParaRPr lang="en-US" sz="3200" dirty="0"/>
          </a:p>
        </p:txBody>
      </p:sp>
      <p:sp>
        <p:nvSpPr>
          <p:cNvPr id="3" name="Text 1"/>
          <p:cNvSpPr/>
          <p:nvPr/>
        </p:nvSpPr>
        <p:spPr>
          <a:xfrm>
            <a:off x="640080" y="1344168"/>
            <a:ext cx="10881360" cy="365760"/>
          </a:xfrm>
          <a:prstGeom prst="rect">
            <a:avLst/>
          </a:prstGeom>
          <a:noFill/>
          <a:ln/>
        </p:spPr>
        <p:txBody>
          <a:bodyPr wrap="square" lIns="0" tIns="0" rIns="0" bIns="0" rtlCol="0" anchor="ctr"/>
          <a:lstStyle/>
          <a:p>
            <a:pPr algn="r" indent="0" marL="0">
              <a:buNone/>
            </a:pPr>
            <a:r>
              <a:rPr lang="en-US" sz="1300" spc="100" kern="0" dirty="0">
                <a:solidFill>
                  <a:srgbClr val="EA580C"/>
                </a:solidFill>
                <a:latin typeface="Calibri" pitchFamily="34" charset="0"/>
                <a:ea typeface="Calibri" pitchFamily="34" charset="-122"/>
                <a:cs typeface="Calibri" pitchFamily="34" charset="-120"/>
              </a:rPr>
              <a:t>USER ROLES</a:t>
            </a:r>
            <a:endParaRPr lang="en-US" sz="1300" dirty="0"/>
          </a:p>
        </p:txBody>
      </p:sp>
      <p:sp>
        <p:nvSpPr>
          <p:cNvPr id="4" name="Shape 2"/>
          <p:cNvSpPr/>
          <p:nvPr/>
        </p:nvSpPr>
        <p:spPr>
          <a:xfrm>
            <a:off x="658368" y="612648"/>
            <a:ext cx="164592" cy="164592"/>
          </a:xfrm>
          <a:prstGeom prst="ellipse">
            <a:avLst/>
          </a:prstGeom>
          <a:solidFill>
            <a:srgbClr val="F97316"/>
          </a:solidFill>
          <a:ln/>
        </p:spPr>
      </p:sp>
      <p:sp>
        <p:nvSpPr>
          <p:cNvPr id="5" name="Text 3"/>
          <p:cNvSpPr/>
          <p:nvPr/>
        </p:nvSpPr>
        <p:spPr>
          <a:xfrm>
            <a:off x="640080" y="6446520"/>
            <a:ext cx="8229600" cy="320040"/>
          </a:xfrm>
          <a:prstGeom prst="rect">
            <a:avLst/>
          </a:prstGeom>
          <a:noFill/>
          <a:ln/>
        </p:spPr>
        <p:txBody>
          <a:bodyPr wrap="square" lIns="0" tIns="0" rIns="0" bIns="0" rtlCol="0" anchor="ctr"/>
          <a:lstStyle/>
          <a:p>
            <a:pPr algn="r" indent="0" marL="0">
              <a:buNone/>
            </a:pPr>
            <a:r>
              <a:rPr lang="en-US" sz="900" dirty="0">
                <a:solidFill>
                  <a:srgbClr val="52525B"/>
                </a:solidFill>
                <a:latin typeface="Cairo" pitchFamily="34" charset="0"/>
                <a:ea typeface="Cairo" pitchFamily="34" charset="-122"/>
                <a:cs typeface="Cairo" pitchFamily="34" charset="-120"/>
              </a:rPr>
              <a:t>مساحاتي | Masahati</a:t>
            </a:r>
            <a:pPr algn="r" indent="0" marL="0">
              <a:buNone/>
            </a:pPr>
            <a:r>
              <a:rPr lang="en-US" sz="900" dirty="0">
                <a:solidFill>
                  <a:srgbClr val="52525B"/>
                </a:solidFill>
                <a:latin typeface="Cairo" pitchFamily="34" charset="0"/>
                <a:ea typeface="Cairo" pitchFamily="34" charset="-122"/>
                <a:cs typeface="Cairo" pitchFamily="34" charset="-120"/>
              </a:rPr>
              <a:t>    •    منصّة مساحات العمل المشتركة في غزة</a:t>
            </a:r>
            <a:endParaRPr lang="en-US" sz="900" dirty="0"/>
          </a:p>
        </p:txBody>
      </p:sp>
      <p:sp>
        <p:nvSpPr>
          <p:cNvPr id="6" name="Text 4"/>
          <p:cNvSpPr/>
          <p:nvPr/>
        </p:nvSpPr>
        <p:spPr>
          <a:xfrm>
            <a:off x="11247120" y="6446520"/>
            <a:ext cx="457200" cy="320040"/>
          </a:xfrm>
          <a:prstGeom prst="rect">
            <a:avLst/>
          </a:prstGeom>
          <a:noFill/>
          <a:ln/>
        </p:spPr>
        <p:txBody>
          <a:bodyPr wrap="square" lIns="0" tIns="0" rIns="0" bIns="0" rtlCol="0" anchor="ctr"/>
          <a:lstStyle/>
          <a:p>
            <a:pPr algn="ctr" indent="0" marL="0">
              <a:buNone/>
            </a:pPr>
            <a:r>
              <a:rPr lang="en-US" sz="900" dirty="0">
                <a:solidFill>
                  <a:srgbClr val="52525B"/>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653796" y="2194560"/>
            <a:ext cx="5120640" cy="3657600"/>
          </a:xfrm>
          <a:prstGeom prst="roundRect">
            <a:avLst>
              <a:gd name="adj" fmla="val 4500"/>
            </a:avLst>
          </a:prstGeom>
          <a:solidFill>
            <a:srgbClr val="F8FAFC"/>
          </a:solidFill>
          <a:ln w="12700">
            <a:solidFill>
              <a:srgbClr val="E4E4E7"/>
            </a:solidFill>
            <a:prstDash val="solid"/>
          </a:ln>
          <a:effectLst>
            <a:outerShdw sx="100000" sy="100000" kx="0" ky="0" algn="bl" rotWithShape="0" blurRad="152400" dist="50800" dir="5400000">
              <a:srgbClr val="000000">
                <a:alpha val="12000"/>
              </a:srgbClr>
            </a:outerShdw>
          </a:effectLst>
        </p:spPr>
      </p:sp>
      <p:sp>
        <p:nvSpPr>
          <p:cNvPr id="8" name="Shape 6"/>
          <p:cNvSpPr/>
          <p:nvPr/>
        </p:nvSpPr>
        <p:spPr>
          <a:xfrm>
            <a:off x="1065276" y="2606040"/>
            <a:ext cx="1005840" cy="1005840"/>
          </a:xfrm>
          <a:prstGeom prst="ellipse">
            <a:avLst/>
          </a:prstGeom>
          <a:solidFill>
            <a:srgbClr val="FFF3E9"/>
          </a:solidFill>
          <a:ln/>
        </p:spPr>
      </p:sp>
      <p:sp>
        <p:nvSpPr>
          <p:cNvPr id="9" name="Text 7"/>
          <p:cNvSpPr/>
          <p:nvPr/>
        </p:nvSpPr>
        <p:spPr>
          <a:xfrm>
            <a:off x="1065276" y="2606040"/>
            <a:ext cx="1005840" cy="1005840"/>
          </a:xfrm>
          <a:prstGeom prst="rect">
            <a:avLst/>
          </a:prstGeom>
          <a:noFill/>
          <a:ln/>
        </p:spPr>
        <p:txBody>
          <a:bodyPr wrap="square" lIns="0" tIns="0" rIns="0" bIns="0" rtlCol="0" anchor="ctr"/>
          <a:lstStyle/>
          <a:p>
            <a:pPr algn="ctr" indent="0" marL="0">
              <a:buNone/>
            </a:pPr>
            <a:r>
              <a:rPr lang="en-US" sz="100" b="1" dirty="0">
                <a:solidFill>
                  <a:srgbClr val="F97316"/>
                </a:solidFill>
                <a:latin typeface="Calibri" pitchFamily="34" charset="0"/>
                <a:ea typeface="Calibri" pitchFamily="34" charset="-122"/>
                <a:cs typeface="Calibri" pitchFamily="34" charset="-120"/>
              </a:rPr>
              <a:t>🎓</a:t>
            </a:r>
            <a:endParaRPr lang="en-US" sz="100" dirty="0"/>
          </a:p>
        </p:txBody>
      </p:sp>
      <p:sp>
        <p:nvSpPr>
          <p:cNvPr id="10" name="Text 8"/>
          <p:cNvSpPr/>
          <p:nvPr/>
        </p:nvSpPr>
        <p:spPr>
          <a:xfrm>
            <a:off x="2299716" y="2651760"/>
            <a:ext cx="3291840" cy="548640"/>
          </a:xfrm>
          <a:prstGeom prst="rect">
            <a:avLst/>
          </a:prstGeom>
          <a:noFill/>
          <a:ln/>
        </p:spPr>
        <p:txBody>
          <a:bodyPr wrap="square" lIns="0" tIns="0" rIns="0" bIns="0" rtlCol="0" anchor="ctr"/>
          <a:lstStyle/>
          <a:p>
            <a:pPr algn="r" indent="0" marL="0">
              <a:buNone/>
            </a:pPr>
            <a:r>
              <a:rPr lang="en-US" sz="2400" b="1" dirty="0">
                <a:solidFill>
                  <a:srgbClr val="18181B"/>
                </a:solidFill>
                <a:latin typeface="Cairo" pitchFamily="34" charset="0"/>
                <a:ea typeface="Cairo" pitchFamily="34" charset="-122"/>
                <a:cs typeface="Cairo" pitchFamily="34" charset="-120"/>
              </a:rPr>
              <a:t>الطالب</a:t>
            </a:r>
            <a:endParaRPr lang="en-US" sz="2400" dirty="0"/>
          </a:p>
        </p:txBody>
      </p:sp>
      <p:sp>
        <p:nvSpPr>
          <p:cNvPr id="11" name="Text 9"/>
          <p:cNvSpPr/>
          <p:nvPr/>
        </p:nvSpPr>
        <p:spPr>
          <a:xfrm>
            <a:off x="2299716" y="3200400"/>
            <a:ext cx="3291840" cy="320040"/>
          </a:xfrm>
          <a:prstGeom prst="rect">
            <a:avLst/>
          </a:prstGeom>
          <a:noFill/>
          <a:ln/>
        </p:spPr>
        <p:txBody>
          <a:bodyPr wrap="square" lIns="0" tIns="0" rIns="0" bIns="0" rtlCol="0" anchor="ctr"/>
          <a:lstStyle/>
          <a:p>
            <a:pPr algn="r" indent="0" marL="0">
              <a:buNone/>
            </a:pPr>
            <a:r>
              <a:rPr lang="en-US" sz="1200" spc="100" kern="0" dirty="0">
                <a:solidFill>
                  <a:srgbClr val="EA580C"/>
                </a:solidFill>
                <a:latin typeface="Calibri" pitchFamily="34" charset="0"/>
                <a:ea typeface="Calibri" pitchFamily="34" charset="-122"/>
                <a:cs typeface="Calibri" pitchFamily="34" charset="-120"/>
              </a:rPr>
              <a:t>Student</a:t>
            </a:r>
            <a:endParaRPr lang="en-US" sz="1200" dirty="0"/>
          </a:p>
        </p:txBody>
      </p:sp>
      <p:sp>
        <p:nvSpPr>
          <p:cNvPr id="12" name="Text 10"/>
          <p:cNvSpPr/>
          <p:nvPr/>
        </p:nvSpPr>
        <p:spPr>
          <a:xfrm>
            <a:off x="1110996" y="3840480"/>
            <a:ext cx="4206240" cy="1828800"/>
          </a:xfrm>
          <a:prstGeom prst="rect">
            <a:avLst/>
          </a:prstGeom>
          <a:noFill/>
          <a:ln/>
        </p:spPr>
        <p:txBody>
          <a:bodyPr wrap="square" lIns="0" tIns="0" rIns="0" bIns="0" rtlCol="0" anchor="t"/>
          <a:lstStyle/>
          <a:p>
            <a:pPr algn="r" marL="228600" indent="-228600">
              <a:lnSpc>
                <a:spcPct val="105000"/>
              </a:lnSpc>
              <a:spcAft>
                <a:spcPts val="1000"/>
              </a:spcAft>
              <a:buSzPct val="100000"/>
              <a:buChar char="•"/>
            </a:pPr>
            <a:r>
              <a:rPr lang="en-US" sz="1400" dirty="0">
                <a:solidFill>
                  <a:srgbClr val="18181B"/>
                </a:solidFill>
                <a:latin typeface="Cairo" pitchFamily="34" charset="0"/>
                <a:ea typeface="Cairo" pitchFamily="34" charset="-122"/>
                <a:cs typeface="Cairo" pitchFamily="34" charset="-120"/>
              </a:rPr>
              <a:t>يكتشف ويوازن بين المساحات.</a:t>
            </a:r>
            <a:endParaRPr lang="en-US" sz="1400" dirty="0"/>
          </a:p>
          <a:p>
            <a:pPr algn="r" marL="228600" indent="-228600">
              <a:lnSpc>
                <a:spcPct val="105000"/>
              </a:lnSpc>
              <a:spcAft>
                <a:spcPts val="1000"/>
              </a:spcAft>
              <a:buSzPct val="100000"/>
              <a:buChar char="•"/>
            </a:pPr>
            <a:r>
              <a:rPr lang="en-US" sz="1400" dirty="0">
                <a:solidFill>
                  <a:srgbClr val="18181B"/>
                </a:solidFill>
                <a:latin typeface="Cairo" pitchFamily="34" charset="0"/>
                <a:ea typeface="Cairo" pitchFamily="34" charset="-122"/>
                <a:cs typeface="Cairo" pitchFamily="34" charset="-120"/>
              </a:rPr>
              <a:t>يحجز مقعداً مباشرةً.</a:t>
            </a:r>
            <a:endParaRPr lang="en-US" sz="1400" dirty="0"/>
          </a:p>
          <a:p>
            <a:pPr algn="r" marL="228600" indent="-228600">
              <a:lnSpc>
                <a:spcPct val="105000"/>
              </a:lnSpc>
              <a:spcAft>
                <a:spcPts val="1000"/>
              </a:spcAft>
              <a:buSzPct val="100000"/>
              <a:buChar char="•"/>
            </a:pPr>
            <a:r>
              <a:rPr lang="en-US" sz="1400" dirty="0">
                <a:solidFill>
                  <a:srgbClr val="18181B"/>
                </a:solidFill>
                <a:latin typeface="Cairo" pitchFamily="34" charset="0"/>
                <a:ea typeface="Cairo" pitchFamily="34" charset="-122"/>
                <a:cs typeface="Cairo" pitchFamily="34" charset="-120"/>
              </a:rPr>
              <a:t>تفعيل فوري بعد التحقق.</a:t>
            </a:r>
            <a:endParaRPr lang="en-US" sz="1400" dirty="0"/>
          </a:p>
        </p:txBody>
      </p:sp>
      <p:sp>
        <p:nvSpPr>
          <p:cNvPr id="13" name="Shape 11"/>
          <p:cNvSpPr/>
          <p:nvPr/>
        </p:nvSpPr>
        <p:spPr>
          <a:xfrm>
            <a:off x="6414516" y="2194560"/>
            <a:ext cx="5120640" cy="3657600"/>
          </a:xfrm>
          <a:prstGeom prst="roundRect">
            <a:avLst>
              <a:gd name="adj" fmla="val 4500"/>
            </a:avLst>
          </a:prstGeom>
          <a:solidFill>
            <a:srgbClr val="F8FAFC"/>
          </a:solidFill>
          <a:ln w="12700">
            <a:solidFill>
              <a:srgbClr val="E4E4E7"/>
            </a:solidFill>
            <a:prstDash val="solid"/>
          </a:ln>
          <a:effectLst>
            <a:outerShdw sx="100000" sy="100000" kx="0" ky="0" algn="bl" rotWithShape="0" blurRad="152400" dist="50800" dir="5400000">
              <a:srgbClr val="000000">
                <a:alpha val="12000"/>
              </a:srgbClr>
            </a:outerShdw>
          </a:effectLst>
        </p:spPr>
      </p:sp>
      <p:sp>
        <p:nvSpPr>
          <p:cNvPr id="14" name="Shape 12"/>
          <p:cNvSpPr/>
          <p:nvPr/>
        </p:nvSpPr>
        <p:spPr>
          <a:xfrm>
            <a:off x="6825996" y="2606040"/>
            <a:ext cx="1005840" cy="1005840"/>
          </a:xfrm>
          <a:prstGeom prst="ellipse">
            <a:avLst/>
          </a:prstGeom>
          <a:solidFill>
            <a:srgbClr val="FFF3E9"/>
          </a:solidFill>
          <a:ln/>
        </p:spPr>
      </p:sp>
      <p:sp>
        <p:nvSpPr>
          <p:cNvPr id="15" name="Text 13"/>
          <p:cNvSpPr/>
          <p:nvPr/>
        </p:nvSpPr>
        <p:spPr>
          <a:xfrm>
            <a:off x="6825996" y="2606040"/>
            <a:ext cx="1005840" cy="1005840"/>
          </a:xfrm>
          <a:prstGeom prst="rect">
            <a:avLst/>
          </a:prstGeom>
          <a:noFill/>
          <a:ln/>
        </p:spPr>
        <p:txBody>
          <a:bodyPr wrap="square" lIns="0" tIns="0" rIns="0" bIns="0" rtlCol="0" anchor="ctr"/>
          <a:lstStyle/>
          <a:p>
            <a:pPr algn="ctr" indent="0" marL="0">
              <a:buNone/>
            </a:pPr>
            <a:r>
              <a:rPr lang="en-US" sz="100" b="1" dirty="0">
                <a:solidFill>
                  <a:srgbClr val="EA580C"/>
                </a:solidFill>
                <a:latin typeface="Calibri" pitchFamily="34" charset="0"/>
                <a:ea typeface="Calibri" pitchFamily="34" charset="-122"/>
                <a:cs typeface="Calibri" pitchFamily="34" charset="-120"/>
              </a:rPr>
              <a:t>🏢</a:t>
            </a:r>
            <a:endParaRPr lang="en-US" sz="100" dirty="0"/>
          </a:p>
        </p:txBody>
      </p:sp>
      <p:sp>
        <p:nvSpPr>
          <p:cNvPr id="16" name="Text 14"/>
          <p:cNvSpPr/>
          <p:nvPr/>
        </p:nvSpPr>
        <p:spPr>
          <a:xfrm>
            <a:off x="8060436" y="2651760"/>
            <a:ext cx="3291840" cy="548640"/>
          </a:xfrm>
          <a:prstGeom prst="rect">
            <a:avLst/>
          </a:prstGeom>
          <a:noFill/>
          <a:ln/>
        </p:spPr>
        <p:txBody>
          <a:bodyPr wrap="square" lIns="0" tIns="0" rIns="0" bIns="0" rtlCol="0" anchor="ctr"/>
          <a:lstStyle/>
          <a:p>
            <a:pPr algn="r" indent="0" marL="0">
              <a:buNone/>
            </a:pPr>
            <a:r>
              <a:rPr lang="en-US" sz="2400" b="1" dirty="0">
                <a:solidFill>
                  <a:srgbClr val="18181B"/>
                </a:solidFill>
                <a:latin typeface="Cairo" pitchFamily="34" charset="0"/>
                <a:ea typeface="Cairo" pitchFamily="34" charset="-122"/>
                <a:cs typeface="Cairo" pitchFamily="34" charset="-120"/>
              </a:rPr>
              <a:t>صاحب المساحة</a:t>
            </a:r>
            <a:endParaRPr lang="en-US" sz="2400" dirty="0"/>
          </a:p>
        </p:txBody>
      </p:sp>
      <p:sp>
        <p:nvSpPr>
          <p:cNvPr id="17" name="Text 15"/>
          <p:cNvSpPr/>
          <p:nvPr/>
        </p:nvSpPr>
        <p:spPr>
          <a:xfrm>
            <a:off x="8060436" y="3200400"/>
            <a:ext cx="3291840" cy="320040"/>
          </a:xfrm>
          <a:prstGeom prst="rect">
            <a:avLst/>
          </a:prstGeom>
          <a:noFill/>
          <a:ln/>
        </p:spPr>
        <p:txBody>
          <a:bodyPr wrap="square" lIns="0" tIns="0" rIns="0" bIns="0" rtlCol="0" anchor="ctr"/>
          <a:lstStyle/>
          <a:p>
            <a:pPr algn="r" indent="0" marL="0">
              <a:buNone/>
            </a:pPr>
            <a:r>
              <a:rPr lang="en-US" sz="1200" spc="100" kern="0" dirty="0">
                <a:solidFill>
                  <a:srgbClr val="EA580C"/>
                </a:solidFill>
                <a:latin typeface="Calibri" pitchFamily="34" charset="0"/>
                <a:ea typeface="Calibri" pitchFamily="34" charset="-122"/>
                <a:cs typeface="Calibri" pitchFamily="34" charset="-120"/>
              </a:rPr>
              <a:t>Space Owner</a:t>
            </a:r>
            <a:endParaRPr lang="en-US" sz="1200" dirty="0"/>
          </a:p>
        </p:txBody>
      </p:sp>
      <p:sp>
        <p:nvSpPr>
          <p:cNvPr id="18" name="Text 16"/>
          <p:cNvSpPr/>
          <p:nvPr/>
        </p:nvSpPr>
        <p:spPr>
          <a:xfrm>
            <a:off x="6871716" y="3840480"/>
            <a:ext cx="4206240" cy="1828800"/>
          </a:xfrm>
          <a:prstGeom prst="rect">
            <a:avLst/>
          </a:prstGeom>
          <a:noFill/>
          <a:ln/>
        </p:spPr>
        <p:txBody>
          <a:bodyPr wrap="square" lIns="0" tIns="0" rIns="0" bIns="0" rtlCol="0" anchor="t"/>
          <a:lstStyle/>
          <a:p>
            <a:pPr algn="r" marL="228600" indent="-228600">
              <a:lnSpc>
                <a:spcPct val="105000"/>
              </a:lnSpc>
              <a:spcAft>
                <a:spcPts val="1000"/>
              </a:spcAft>
              <a:buSzPct val="100000"/>
              <a:buChar char="•"/>
            </a:pPr>
            <a:r>
              <a:rPr lang="en-US" sz="1400" dirty="0">
                <a:solidFill>
                  <a:srgbClr val="18181B"/>
                </a:solidFill>
                <a:latin typeface="Cairo" pitchFamily="34" charset="0"/>
                <a:ea typeface="Cairo" pitchFamily="34" charset="-122"/>
                <a:cs typeface="Cairo" pitchFamily="34" charset="-120"/>
              </a:rPr>
              <a:t>يعرض مساحته للجمهور.</a:t>
            </a:r>
            <a:endParaRPr lang="en-US" sz="1400" dirty="0"/>
          </a:p>
          <a:p>
            <a:pPr algn="r" marL="228600" indent="-228600">
              <a:lnSpc>
                <a:spcPct val="105000"/>
              </a:lnSpc>
              <a:spcAft>
                <a:spcPts val="1000"/>
              </a:spcAft>
              <a:buSzPct val="100000"/>
              <a:buChar char="•"/>
            </a:pPr>
            <a:r>
              <a:rPr lang="en-US" sz="1400" dirty="0">
                <a:solidFill>
                  <a:srgbClr val="18181B"/>
                </a:solidFill>
                <a:latin typeface="Cairo" pitchFamily="34" charset="0"/>
                <a:ea typeface="Cairo" pitchFamily="34" charset="-122"/>
                <a:cs typeface="Cairo" pitchFamily="34" charset="-120"/>
              </a:rPr>
              <a:t>يرفق وثيقة إثبات ملكية.</a:t>
            </a:r>
            <a:endParaRPr lang="en-US" sz="1400" dirty="0"/>
          </a:p>
          <a:p>
            <a:pPr algn="r" marL="228600" indent="-228600">
              <a:lnSpc>
                <a:spcPct val="105000"/>
              </a:lnSpc>
              <a:spcAft>
                <a:spcPts val="1000"/>
              </a:spcAft>
              <a:buSzPct val="100000"/>
              <a:buChar char="•"/>
            </a:pPr>
            <a:r>
              <a:rPr lang="en-US" sz="1400" dirty="0">
                <a:solidFill>
                  <a:srgbClr val="18181B"/>
                </a:solidFill>
                <a:latin typeface="Cairo" pitchFamily="34" charset="0"/>
                <a:ea typeface="Cairo" pitchFamily="34" charset="-122"/>
                <a:cs typeface="Cairo" pitchFamily="34" charset="-120"/>
              </a:rPr>
              <a:t>بانتظار موافقة الإدارة.</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502920"/>
            <a:ext cx="10881360" cy="822960"/>
          </a:xfrm>
          <a:prstGeom prst="rect">
            <a:avLst/>
          </a:prstGeom>
          <a:noFill/>
          <a:ln/>
        </p:spPr>
        <p:txBody>
          <a:bodyPr wrap="square" lIns="0" tIns="0" rIns="0" bIns="0" rtlCol="0" anchor="ctr"/>
          <a:lstStyle/>
          <a:p>
            <a:pPr algn="r" indent="0" marL="0">
              <a:buNone/>
            </a:pPr>
            <a:r>
              <a:rPr lang="en-US" sz="3200" b="1" dirty="0">
                <a:solidFill>
                  <a:srgbClr val="0A0A0A"/>
                </a:solidFill>
                <a:latin typeface="Cairo" pitchFamily="34" charset="0"/>
                <a:ea typeface="Cairo" pitchFamily="34" charset="-122"/>
                <a:cs typeface="Cairo" pitchFamily="34" charset="-120"/>
              </a:rPr>
              <a:t>التقنية والبنية</a:t>
            </a:r>
            <a:endParaRPr lang="en-US" sz="3200" dirty="0"/>
          </a:p>
        </p:txBody>
      </p:sp>
      <p:sp>
        <p:nvSpPr>
          <p:cNvPr id="3" name="Text 1"/>
          <p:cNvSpPr/>
          <p:nvPr/>
        </p:nvSpPr>
        <p:spPr>
          <a:xfrm>
            <a:off x="640080" y="1344168"/>
            <a:ext cx="10881360" cy="365760"/>
          </a:xfrm>
          <a:prstGeom prst="rect">
            <a:avLst/>
          </a:prstGeom>
          <a:noFill/>
          <a:ln/>
        </p:spPr>
        <p:txBody>
          <a:bodyPr wrap="square" lIns="0" tIns="0" rIns="0" bIns="0" rtlCol="0" anchor="ctr"/>
          <a:lstStyle/>
          <a:p>
            <a:pPr algn="r" indent="0" marL="0">
              <a:buNone/>
            </a:pPr>
            <a:r>
              <a:rPr lang="en-US" sz="1300" spc="100" kern="0" dirty="0">
                <a:solidFill>
                  <a:srgbClr val="EA580C"/>
                </a:solidFill>
                <a:latin typeface="Calibri" pitchFamily="34" charset="0"/>
                <a:ea typeface="Calibri" pitchFamily="34" charset="-122"/>
                <a:cs typeface="Calibri" pitchFamily="34" charset="-120"/>
              </a:rPr>
              <a:t>TECH STACK &amp; ARCHITECTURE</a:t>
            </a:r>
            <a:endParaRPr lang="en-US" sz="1300" dirty="0"/>
          </a:p>
        </p:txBody>
      </p:sp>
      <p:sp>
        <p:nvSpPr>
          <p:cNvPr id="4" name="Shape 2"/>
          <p:cNvSpPr/>
          <p:nvPr/>
        </p:nvSpPr>
        <p:spPr>
          <a:xfrm>
            <a:off x="658368" y="612648"/>
            <a:ext cx="164592" cy="164592"/>
          </a:xfrm>
          <a:prstGeom prst="ellipse">
            <a:avLst/>
          </a:prstGeom>
          <a:solidFill>
            <a:srgbClr val="F97316"/>
          </a:solidFill>
          <a:ln/>
        </p:spPr>
      </p:sp>
      <p:sp>
        <p:nvSpPr>
          <p:cNvPr id="5" name="Text 3"/>
          <p:cNvSpPr/>
          <p:nvPr/>
        </p:nvSpPr>
        <p:spPr>
          <a:xfrm>
            <a:off x="640080" y="6446520"/>
            <a:ext cx="8229600" cy="320040"/>
          </a:xfrm>
          <a:prstGeom prst="rect">
            <a:avLst/>
          </a:prstGeom>
          <a:noFill/>
          <a:ln/>
        </p:spPr>
        <p:txBody>
          <a:bodyPr wrap="square" lIns="0" tIns="0" rIns="0" bIns="0" rtlCol="0" anchor="ctr"/>
          <a:lstStyle/>
          <a:p>
            <a:pPr algn="r" indent="0" marL="0">
              <a:buNone/>
            </a:pPr>
            <a:r>
              <a:rPr lang="en-US" sz="900" dirty="0">
                <a:solidFill>
                  <a:srgbClr val="52525B"/>
                </a:solidFill>
                <a:latin typeface="Cairo" pitchFamily="34" charset="0"/>
                <a:ea typeface="Cairo" pitchFamily="34" charset="-122"/>
                <a:cs typeface="Cairo" pitchFamily="34" charset="-120"/>
              </a:rPr>
              <a:t>مساحاتي | Masahati</a:t>
            </a:r>
            <a:pPr algn="r" indent="0" marL="0">
              <a:buNone/>
            </a:pPr>
            <a:r>
              <a:rPr lang="en-US" sz="900" dirty="0">
                <a:solidFill>
                  <a:srgbClr val="52525B"/>
                </a:solidFill>
                <a:latin typeface="Cairo" pitchFamily="34" charset="0"/>
                <a:ea typeface="Cairo" pitchFamily="34" charset="-122"/>
                <a:cs typeface="Cairo" pitchFamily="34" charset="-120"/>
              </a:rPr>
              <a:t>    •    منصّة مساحات العمل المشتركة في غزة</a:t>
            </a:r>
            <a:endParaRPr lang="en-US" sz="900" dirty="0"/>
          </a:p>
        </p:txBody>
      </p:sp>
      <p:sp>
        <p:nvSpPr>
          <p:cNvPr id="6" name="Text 4"/>
          <p:cNvSpPr/>
          <p:nvPr/>
        </p:nvSpPr>
        <p:spPr>
          <a:xfrm>
            <a:off x="11247120" y="6446520"/>
            <a:ext cx="457200" cy="320040"/>
          </a:xfrm>
          <a:prstGeom prst="rect">
            <a:avLst/>
          </a:prstGeom>
          <a:noFill/>
          <a:ln/>
        </p:spPr>
        <p:txBody>
          <a:bodyPr wrap="square" lIns="0" tIns="0" rIns="0" bIns="0" rtlCol="0" anchor="ctr"/>
          <a:lstStyle/>
          <a:p>
            <a:pPr algn="ctr" indent="0" marL="0">
              <a:buNone/>
            </a:pPr>
            <a:r>
              <a:rPr lang="en-US" sz="900" dirty="0">
                <a:solidFill>
                  <a:srgbClr val="52525B"/>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516636" y="2148840"/>
            <a:ext cx="3383280" cy="3383280"/>
          </a:xfrm>
          <a:prstGeom prst="roundRect">
            <a:avLst>
              <a:gd name="adj" fmla="val 4324"/>
            </a:avLst>
          </a:prstGeom>
          <a:solidFill>
            <a:srgbClr val="FFFFFF"/>
          </a:solidFill>
          <a:ln w="12700">
            <a:solidFill>
              <a:srgbClr val="E4E4E7"/>
            </a:solidFill>
            <a:prstDash val="solid"/>
          </a:ln>
          <a:effectLst>
            <a:outerShdw sx="100000" sy="100000" kx="0" ky="0" algn="bl" rotWithShape="0" blurRad="152400" dist="50800" dir="5400000">
              <a:srgbClr val="000000">
                <a:alpha val="12000"/>
              </a:srgbClr>
            </a:outerShdw>
          </a:effectLst>
        </p:spPr>
      </p:sp>
      <p:sp>
        <p:nvSpPr>
          <p:cNvPr id="8" name="Shape 6"/>
          <p:cNvSpPr/>
          <p:nvPr/>
        </p:nvSpPr>
        <p:spPr>
          <a:xfrm>
            <a:off x="516636" y="2148840"/>
            <a:ext cx="3383280" cy="128016"/>
          </a:xfrm>
          <a:prstGeom prst="rect">
            <a:avLst/>
          </a:prstGeom>
          <a:solidFill>
            <a:srgbClr val="F97316"/>
          </a:solidFill>
          <a:ln/>
        </p:spPr>
      </p:sp>
      <p:sp>
        <p:nvSpPr>
          <p:cNvPr id="9" name="Text 7"/>
          <p:cNvSpPr/>
          <p:nvPr/>
        </p:nvSpPr>
        <p:spPr>
          <a:xfrm>
            <a:off x="790956" y="2468880"/>
            <a:ext cx="2834640" cy="502920"/>
          </a:xfrm>
          <a:prstGeom prst="rect">
            <a:avLst/>
          </a:prstGeom>
          <a:noFill/>
          <a:ln/>
        </p:spPr>
        <p:txBody>
          <a:bodyPr wrap="square" lIns="0" tIns="0" rIns="0" bIns="0" rtlCol="0" anchor="ctr"/>
          <a:lstStyle/>
          <a:p>
            <a:pPr algn="r" indent="0" marL="0">
              <a:buNone/>
            </a:pPr>
            <a:r>
              <a:rPr lang="en-US" sz="1900" b="1" dirty="0">
                <a:solidFill>
                  <a:srgbClr val="18181B"/>
                </a:solidFill>
                <a:latin typeface="Cairo" pitchFamily="34" charset="0"/>
                <a:ea typeface="Cairo" pitchFamily="34" charset="-122"/>
                <a:cs typeface="Cairo" pitchFamily="34" charset="-120"/>
              </a:rPr>
              <a:t>الواجهة الأمامية</a:t>
            </a:r>
            <a:endParaRPr lang="en-US" sz="1900" dirty="0"/>
          </a:p>
        </p:txBody>
      </p:sp>
      <p:sp>
        <p:nvSpPr>
          <p:cNvPr id="10" name="Text 8"/>
          <p:cNvSpPr/>
          <p:nvPr/>
        </p:nvSpPr>
        <p:spPr>
          <a:xfrm>
            <a:off x="790956" y="2990088"/>
            <a:ext cx="2834640" cy="274320"/>
          </a:xfrm>
          <a:prstGeom prst="rect">
            <a:avLst/>
          </a:prstGeom>
          <a:noFill/>
          <a:ln/>
        </p:spPr>
        <p:txBody>
          <a:bodyPr wrap="square" lIns="0" tIns="0" rIns="0" bIns="0" rtlCol="0" anchor="ctr"/>
          <a:lstStyle/>
          <a:p>
            <a:pPr algn="r" indent="0" marL="0">
              <a:buNone/>
            </a:pPr>
            <a:r>
              <a:rPr lang="en-US" sz="1100" spc="100" kern="0" dirty="0">
                <a:solidFill>
                  <a:srgbClr val="EA580C"/>
                </a:solidFill>
                <a:latin typeface="Calibri" pitchFamily="34" charset="0"/>
                <a:ea typeface="Calibri" pitchFamily="34" charset="-122"/>
                <a:cs typeface="Calibri" pitchFamily="34" charset="-120"/>
              </a:rPr>
              <a:t>FRONTEND</a:t>
            </a:r>
            <a:endParaRPr lang="en-US" sz="1100" dirty="0"/>
          </a:p>
        </p:txBody>
      </p:sp>
      <p:sp>
        <p:nvSpPr>
          <p:cNvPr id="11" name="Text 9"/>
          <p:cNvSpPr/>
          <p:nvPr/>
        </p:nvSpPr>
        <p:spPr>
          <a:xfrm>
            <a:off x="836676" y="3429000"/>
            <a:ext cx="2743200" cy="1920240"/>
          </a:xfrm>
          <a:prstGeom prst="rect">
            <a:avLst/>
          </a:prstGeom>
          <a:noFill/>
          <a:ln/>
        </p:spPr>
        <p:txBody>
          <a:bodyPr wrap="square" lIns="0" tIns="0" rIns="0" bIns="0" rtlCol="0" anchor="t"/>
          <a:lstStyle/>
          <a:p>
            <a:pPr algn="r" marL="228600" indent="-228600">
              <a:lnSpc>
                <a:spcPct val="105000"/>
              </a:lnSpc>
              <a:spcAft>
                <a:spcPts val="900"/>
              </a:spcAft>
              <a:buSzPct val="100000"/>
              <a:buChar char="•"/>
            </a:pPr>
            <a:r>
              <a:rPr lang="en-US" sz="1400" dirty="0">
                <a:solidFill>
                  <a:srgbClr val="18181B"/>
                </a:solidFill>
                <a:latin typeface="Cairo" pitchFamily="34" charset="0"/>
                <a:ea typeface="Cairo" pitchFamily="34" charset="-122"/>
                <a:cs typeface="Cairo" pitchFamily="34" charset="-120"/>
              </a:rPr>
              <a:t>React 19</a:t>
            </a:r>
            <a:endParaRPr lang="en-US" sz="1400" dirty="0"/>
          </a:p>
          <a:p>
            <a:pPr algn="r" marL="228600" indent="-228600">
              <a:lnSpc>
                <a:spcPct val="105000"/>
              </a:lnSpc>
              <a:spcAft>
                <a:spcPts val="900"/>
              </a:spcAft>
              <a:buSzPct val="100000"/>
              <a:buChar char="•"/>
            </a:pPr>
            <a:r>
              <a:rPr lang="en-US" sz="1400" dirty="0">
                <a:solidFill>
                  <a:srgbClr val="18181B"/>
                </a:solidFill>
                <a:latin typeface="Cairo" pitchFamily="34" charset="0"/>
                <a:ea typeface="Cairo" pitchFamily="34" charset="-122"/>
                <a:cs typeface="Cairo" pitchFamily="34" charset="-120"/>
              </a:rPr>
              <a:t>Vite 8</a:t>
            </a:r>
            <a:endParaRPr lang="en-US" sz="1400" dirty="0"/>
          </a:p>
          <a:p>
            <a:pPr algn="r" marL="228600" indent="-228600">
              <a:lnSpc>
                <a:spcPct val="105000"/>
              </a:lnSpc>
              <a:spcAft>
                <a:spcPts val="900"/>
              </a:spcAft>
              <a:buSzPct val="100000"/>
              <a:buChar char="•"/>
            </a:pPr>
            <a:r>
              <a:rPr lang="en-US" sz="1400" dirty="0">
                <a:solidFill>
                  <a:srgbClr val="18181B"/>
                </a:solidFill>
                <a:latin typeface="Cairo" pitchFamily="34" charset="0"/>
                <a:ea typeface="Cairo" pitchFamily="34" charset="-122"/>
                <a:cs typeface="Cairo" pitchFamily="34" charset="-120"/>
              </a:rPr>
              <a:t>Tailwind CSS v4</a:t>
            </a:r>
            <a:endParaRPr lang="en-US" sz="1400" dirty="0"/>
          </a:p>
          <a:p>
            <a:pPr algn="r" marL="228600" indent="-228600">
              <a:lnSpc>
                <a:spcPct val="105000"/>
              </a:lnSpc>
              <a:spcAft>
                <a:spcPts val="900"/>
              </a:spcAft>
              <a:buSzPct val="100000"/>
              <a:buChar char="•"/>
            </a:pPr>
            <a:r>
              <a:rPr lang="en-US" sz="1400" dirty="0">
                <a:solidFill>
                  <a:srgbClr val="18181B"/>
                </a:solidFill>
                <a:latin typeface="Cairo" pitchFamily="34" charset="0"/>
                <a:ea typeface="Cairo" pitchFamily="34" charset="-122"/>
                <a:cs typeface="Cairo" pitchFamily="34" charset="-120"/>
              </a:rPr>
              <a:t>React Router 7</a:t>
            </a:r>
            <a:endParaRPr lang="en-US" sz="1400" dirty="0"/>
          </a:p>
        </p:txBody>
      </p:sp>
      <p:sp>
        <p:nvSpPr>
          <p:cNvPr id="12" name="Shape 10"/>
          <p:cNvSpPr/>
          <p:nvPr/>
        </p:nvSpPr>
        <p:spPr>
          <a:xfrm>
            <a:off x="4402836" y="2148840"/>
            <a:ext cx="3383280" cy="3383280"/>
          </a:xfrm>
          <a:prstGeom prst="roundRect">
            <a:avLst>
              <a:gd name="adj" fmla="val 4324"/>
            </a:avLst>
          </a:prstGeom>
          <a:solidFill>
            <a:srgbClr val="FFFFFF"/>
          </a:solidFill>
          <a:ln w="12700">
            <a:solidFill>
              <a:srgbClr val="E4E4E7"/>
            </a:solidFill>
            <a:prstDash val="solid"/>
          </a:ln>
          <a:effectLst>
            <a:outerShdw sx="100000" sy="100000" kx="0" ky="0" algn="bl" rotWithShape="0" blurRad="152400" dist="50800" dir="5400000">
              <a:srgbClr val="000000">
                <a:alpha val="12000"/>
              </a:srgbClr>
            </a:outerShdw>
          </a:effectLst>
        </p:spPr>
      </p:sp>
      <p:sp>
        <p:nvSpPr>
          <p:cNvPr id="13" name="Shape 11"/>
          <p:cNvSpPr/>
          <p:nvPr/>
        </p:nvSpPr>
        <p:spPr>
          <a:xfrm>
            <a:off x="4402836" y="2148840"/>
            <a:ext cx="3383280" cy="128016"/>
          </a:xfrm>
          <a:prstGeom prst="rect">
            <a:avLst/>
          </a:prstGeom>
          <a:solidFill>
            <a:srgbClr val="EA580C"/>
          </a:solidFill>
          <a:ln/>
        </p:spPr>
      </p:sp>
      <p:sp>
        <p:nvSpPr>
          <p:cNvPr id="14" name="Text 12"/>
          <p:cNvSpPr/>
          <p:nvPr/>
        </p:nvSpPr>
        <p:spPr>
          <a:xfrm>
            <a:off x="4677156" y="2468880"/>
            <a:ext cx="2834640" cy="502920"/>
          </a:xfrm>
          <a:prstGeom prst="rect">
            <a:avLst/>
          </a:prstGeom>
          <a:noFill/>
          <a:ln/>
        </p:spPr>
        <p:txBody>
          <a:bodyPr wrap="square" lIns="0" tIns="0" rIns="0" bIns="0" rtlCol="0" anchor="ctr"/>
          <a:lstStyle/>
          <a:p>
            <a:pPr algn="r" indent="0" marL="0">
              <a:buNone/>
            </a:pPr>
            <a:r>
              <a:rPr lang="en-US" sz="1900" b="1" dirty="0">
                <a:solidFill>
                  <a:srgbClr val="18181B"/>
                </a:solidFill>
                <a:latin typeface="Cairo" pitchFamily="34" charset="0"/>
                <a:ea typeface="Cairo" pitchFamily="34" charset="-122"/>
                <a:cs typeface="Cairo" pitchFamily="34" charset="-120"/>
              </a:rPr>
              <a:t>الخلفية (قادم)</a:t>
            </a:r>
            <a:endParaRPr lang="en-US" sz="1900" dirty="0"/>
          </a:p>
        </p:txBody>
      </p:sp>
      <p:sp>
        <p:nvSpPr>
          <p:cNvPr id="15" name="Text 13"/>
          <p:cNvSpPr/>
          <p:nvPr/>
        </p:nvSpPr>
        <p:spPr>
          <a:xfrm>
            <a:off x="4677156" y="2990088"/>
            <a:ext cx="2834640" cy="274320"/>
          </a:xfrm>
          <a:prstGeom prst="rect">
            <a:avLst/>
          </a:prstGeom>
          <a:noFill/>
          <a:ln/>
        </p:spPr>
        <p:txBody>
          <a:bodyPr wrap="square" lIns="0" tIns="0" rIns="0" bIns="0" rtlCol="0" anchor="ctr"/>
          <a:lstStyle/>
          <a:p>
            <a:pPr algn="r" indent="0" marL="0">
              <a:buNone/>
            </a:pPr>
            <a:r>
              <a:rPr lang="en-US" sz="1100" spc="100" kern="0" dirty="0">
                <a:solidFill>
                  <a:srgbClr val="EA580C"/>
                </a:solidFill>
                <a:latin typeface="Calibri" pitchFamily="34" charset="0"/>
                <a:ea typeface="Calibri" pitchFamily="34" charset="-122"/>
                <a:cs typeface="Calibri" pitchFamily="34" charset="-120"/>
              </a:rPr>
              <a:t>BACKEND</a:t>
            </a:r>
            <a:endParaRPr lang="en-US" sz="1100" dirty="0"/>
          </a:p>
        </p:txBody>
      </p:sp>
      <p:sp>
        <p:nvSpPr>
          <p:cNvPr id="16" name="Text 14"/>
          <p:cNvSpPr/>
          <p:nvPr/>
        </p:nvSpPr>
        <p:spPr>
          <a:xfrm>
            <a:off x="4722876" y="3429000"/>
            <a:ext cx="2743200" cy="1920240"/>
          </a:xfrm>
          <a:prstGeom prst="rect">
            <a:avLst/>
          </a:prstGeom>
          <a:noFill/>
          <a:ln/>
        </p:spPr>
        <p:txBody>
          <a:bodyPr wrap="square" lIns="0" tIns="0" rIns="0" bIns="0" rtlCol="0" anchor="t"/>
          <a:lstStyle/>
          <a:p>
            <a:pPr algn="r" marL="228600" indent="-228600">
              <a:lnSpc>
                <a:spcPct val="105000"/>
              </a:lnSpc>
              <a:spcAft>
                <a:spcPts val="900"/>
              </a:spcAft>
              <a:buSzPct val="100000"/>
              <a:buChar char="•"/>
            </a:pPr>
            <a:r>
              <a:rPr lang="en-US" sz="1400" dirty="0">
                <a:solidFill>
                  <a:srgbClr val="18181B"/>
                </a:solidFill>
                <a:latin typeface="Cairo" pitchFamily="34" charset="0"/>
                <a:ea typeface="Cairo" pitchFamily="34" charset="-122"/>
                <a:cs typeface="Cairo" pitchFamily="34" charset="-120"/>
              </a:rPr>
              <a:t>Laravel (PHP)</a:t>
            </a:r>
            <a:endParaRPr lang="en-US" sz="1400" dirty="0"/>
          </a:p>
          <a:p>
            <a:pPr algn="r" marL="228600" indent="-228600">
              <a:lnSpc>
                <a:spcPct val="105000"/>
              </a:lnSpc>
              <a:spcAft>
                <a:spcPts val="900"/>
              </a:spcAft>
              <a:buSzPct val="100000"/>
              <a:buChar char="•"/>
            </a:pPr>
            <a:r>
              <a:rPr lang="en-US" sz="1400" dirty="0">
                <a:solidFill>
                  <a:srgbClr val="18181B"/>
                </a:solidFill>
                <a:latin typeface="Cairo" pitchFamily="34" charset="0"/>
                <a:ea typeface="Cairo" pitchFamily="34" charset="-122"/>
                <a:cs typeface="Cairo" pitchFamily="34" charset="-120"/>
              </a:rPr>
              <a:t>MySQL</a:t>
            </a:r>
            <a:endParaRPr lang="en-US" sz="1400" dirty="0"/>
          </a:p>
          <a:p>
            <a:pPr algn="r" marL="228600" indent="-228600">
              <a:lnSpc>
                <a:spcPct val="105000"/>
              </a:lnSpc>
              <a:spcAft>
                <a:spcPts val="900"/>
              </a:spcAft>
              <a:buSzPct val="100000"/>
              <a:buChar char="•"/>
            </a:pPr>
            <a:r>
              <a:rPr lang="en-US" sz="1400" dirty="0">
                <a:solidFill>
                  <a:srgbClr val="18181B"/>
                </a:solidFill>
                <a:latin typeface="Cairo" pitchFamily="34" charset="0"/>
                <a:ea typeface="Cairo" pitchFamily="34" charset="-122"/>
                <a:cs typeface="Cairo" pitchFamily="34" charset="-120"/>
              </a:rPr>
              <a:t>مصادقة حقيقية</a:t>
            </a:r>
            <a:endParaRPr lang="en-US" sz="1400" dirty="0"/>
          </a:p>
          <a:p>
            <a:pPr algn="r" marL="228600" indent="-228600">
              <a:lnSpc>
                <a:spcPct val="105000"/>
              </a:lnSpc>
              <a:spcAft>
                <a:spcPts val="900"/>
              </a:spcAft>
              <a:buSzPct val="100000"/>
              <a:buChar char="•"/>
            </a:pPr>
            <a:r>
              <a:rPr lang="en-US" sz="1400" dirty="0">
                <a:solidFill>
                  <a:srgbClr val="18181B"/>
                </a:solidFill>
                <a:latin typeface="Cairo" pitchFamily="34" charset="0"/>
                <a:ea typeface="Cairo" pitchFamily="34" charset="-122"/>
                <a:cs typeface="Cairo" pitchFamily="34" charset="-120"/>
              </a:rPr>
              <a:t>REST API</a:t>
            </a:r>
            <a:endParaRPr lang="en-US" sz="1400" dirty="0"/>
          </a:p>
        </p:txBody>
      </p:sp>
      <p:sp>
        <p:nvSpPr>
          <p:cNvPr id="17" name="Shape 15"/>
          <p:cNvSpPr/>
          <p:nvPr/>
        </p:nvSpPr>
        <p:spPr>
          <a:xfrm>
            <a:off x="8289036" y="2148840"/>
            <a:ext cx="3383280" cy="3383280"/>
          </a:xfrm>
          <a:prstGeom prst="roundRect">
            <a:avLst>
              <a:gd name="adj" fmla="val 4324"/>
            </a:avLst>
          </a:prstGeom>
          <a:solidFill>
            <a:srgbClr val="FFFFFF"/>
          </a:solidFill>
          <a:ln w="12700">
            <a:solidFill>
              <a:srgbClr val="E4E4E7"/>
            </a:solidFill>
            <a:prstDash val="solid"/>
          </a:ln>
          <a:effectLst>
            <a:outerShdw sx="100000" sy="100000" kx="0" ky="0" algn="bl" rotWithShape="0" blurRad="152400" dist="50800" dir="5400000">
              <a:srgbClr val="000000">
                <a:alpha val="12000"/>
              </a:srgbClr>
            </a:outerShdw>
          </a:effectLst>
        </p:spPr>
      </p:sp>
      <p:sp>
        <p:nvSpPr>
          <p:cNvPr id="18" name="Shape 16"/>
          <p:cNvSpPr/>
          <p:nvPr/>
        </p:nvSpPr>
        <p:spPr>
          <a:xfrm>
            <a:off x="8289036" y="2148840"/>
            <a:ext cx="3383280" cy="128016"/>
          </a:xfrm>
          <a:prstGeom prst="rect">
            <a:avLst/>
          </a:prstGeom>
          <a:solidFill>
            <a:srgbClr val="FB923C"/>
          </a:solidFill>
          <a:ln/>
        </p:spPr>
      </p:sp>
      <p:sp>
        <p:nvSpPr>
          <p:cNvPr id="19" name="Text 17"/>
          <p:cNvSpPr/>
          <p:nvPr/>
        </p:nvSpPr>
        <p:spPr>
          <a:xfrm>
            <a:off x="8563356" y="2468880"/>
            <a:ext cx="2834640" cy="502920"/>
          </a:xfrm>
          <a:prstGeom prst="rect">
            <a:avLst/>
          </a:prstGeom>
          <a:noFill/>
          <a:ln/>
        </p:spPr>
        <p:txBody>
          <a:bodyPr wrap="square" lIns="0" tIns="0" rIns="0" bIns="0" rtlCol="0" anchor="ctr"/>
          <a:lstStyle/>
          <a:p>
            <a:pPr algn="r" indent="0" marL="0">
              <a:buNone/>
            </a:pPr>
            <a:r>
              <a:rPr lang="en-US" sz="1900" b="1" dirty="0">
                <a:solidFill>
                  <a:srgbClr val="18181B"/>
                </a:solidFill>
                <a:latin typeface="Cairo" pitchFamily="34" charset="0"/>
                <a:ea typeface="Cairo" pitchFamily="34" charset="-122"/>
                <a:cs typeface="Cairo" pitchFamily="34" charset="-120"/>
              </a:rPr>
              <a:t>الجودة والأداء</a:t>
            </a:r>
            <a:endParaRPr lang="en-US" sz="1900" dirty="0"/>
          </a:p>
        </p:txBody>
      </p:sp>
      <p:sp>
        <p:nvSpPr>
          <p:cNvPr id="20" name="Text 18"/>
          <p:cNvSpPr/>
          <p:nvPr/>
        </p:nvSpPr>
        <p:spPr>
          <a:xfrm>
            <a:off x="8563356" y="2990088"/>
            <a:ext cx="2834640" cy="274320"/>
          </a:xfrm>
          <a:prstGeom prst="rect">
            <a:avLst/>
          </a:prstGeom>
          <a:noFill/>
          <a:ln/>
        </p:spPr>
        <p:txBody>
          <a:bodyPr wrap="square" lIns="0" tIns="0" rIns="0" bIns="0" rtlCol="0" anchor="ctr"/>
          <a:lstStyle/>
          <a:p>
            <a:pPr algn="r" indent="0" marL="0">
              <a:buNone/>
            </a:pPr>
            <a:r>
              <a:rPr lang="en-US" sz="1100" spc="100" kern="0" dirty="0">
                <a:solidFill>
                  <a:srgbClr val="EA580C"/>
                </a:solidFill>
                <a:latin typeface="Calibri" pitchFamily="34" charset="0"/>
                <a:ea typeface="Calibri" pitchFamily="34" charset="-122"/>
                <a:cs typeface="Calibri" pitchFamily="34" charset="-120"/>
              </a:rPr>
              <a:t>QUALITY</a:t>
            </a:r>
            <a:endParaRPr lang="en-US" sz="1100" dirty="0"/>
          </a:p>
        </p:txBody>
      </p:sp>
      <p:sp>
        <p:nvSpPr>
          <p:cNvPr id="21" name="Text 19"/>
          <p:cNvSpPr/>
          <p:nvPr/>
        </p:nvSpPr>
        <p:spPr>
          <a:xfrm>
            <a:off x="8609076" y="3429000"/>
            <a:ext cx="2743200" cy="1920240"/>
          </a:xfrm>
          <a:prstGeom prst="rect">
            <a:avLst/>
          </a:prstGeom>
          <a:noFill/>
          <a:ln/>
        </p:spPr>
        <p:txBody>
          <a:bodyPr wrap="square" lIns="0" tIns="0" rIns="0" bIns="0" rtlCol="0" anchor="t"/>
          <a:lstStyle/>
          <a:p>
            <a:pPr algn="r" marL="228600" indent="-228600">
              <a:lnSpc>
                <a:spcPct val="105000"/>
              </a:lnSpc>
              <a:spcAft>
                <a:spcPts val="900"/>
              </a:spcAft>
              <a:buSzPct val="100000"/>
              <a:buChar char="•"/>
            </a:pPr>
            <a:r>
              <a:rPr lang="en-US" sz="1400" dirty="0">
                <a:solidFill>
                  <a:srgbClr val="18181B"/>
                </a:solidFill>
                <a:latin typeface="Cairo" pitchFamily="34" charset="0"/>
                <a:ea typeface="Cairo" pitchFamily="34" charset="-122"/>
                <a:cs typeface="Cairo" pitchFamily="34" charset="-120"/>
              </a:rPr>
              <a:t>Build &amp; Lint أخضر</a:t>
            </a:r>
            <a:endParaRPr lang="en-US" sz="1400" dirty="0"/>
          </a:p>
          <a:p>
            <a:pPr algn="r" marL="228600" indent="-228600">
              <a:lnSpc>
                <a:spcPct val="105000"/>
              </a:lnSpc>
              <a:spcAft>
                <a:spcPts val="900"/>
              </a:spcAft>
              <a:buSzPct val="100000"/>
              <a:buChar char="•"/>
            </a:pPr>
            <a:r>
              <a:rPr lang="en-US" sz="1400" dirty="0">
                <a:solidFill>
                  <a:srgbClr val="18181B"/>
                </a:solidFill>
                <a:latin typeface="Cairo" pitchFamily="34" charset="0"/>
                <a:ea typeface="Cairo" pitchFamily="34" charset="-122"/>
                <a:cs typeface="Cairo" pitchFamily="34" charset="-120"/>
              </a:rPr>
              <a:t>0 ثغرات أمنية</a:t>
            </a:r>
            <a:endParaRPr lang="en-US" sz="1400" dirty="0"/>
          </a:p>
          <a:p>
            <a:pPr algn="r" marL="228600" indent="-228600">
              <a:lnSpc>
                <a:spcPct val="105000"/>
              </a:lnSpc>
              <a:spcAft>
                <a:spcPts val="900"/>
              </a:spcAft>
              <a:buSzPct val="100000"/>
              <a:buChar char="•"/>
            </a:pPr>
            <a:r>
              <a:rPr lang="en-US" sz="1400" dirty="0">
                <a:solidFill>
                  <a:srgbClr val="18181B"/>
                </a:solidFill>
                <a:latin typeface="Cairo" pitchFamily="34" charset="0"/>
                <a:ea typeface="Cairo" pitchFamily="34" charset="-122"/>
                <a:cs typeface="Cairo" pitchFamily="34" charset="-120"/>
              </a:rPr>
              <a:t>JS ~101KB gzip</a:t>
            </a:r>
            <a:endParaRPr lang="en-US" sz="1400" dirty="0"/>
          </a:p>
          <a:p>
            <a:pPr algn="r" marL="228600" indent="-228600">
              <a:lnSpc>
                <a:spcPct val="105000"/>
              </a:lnSpc>
              <a:spcAft>
                <a:spcPts val="900"/>
              </a:spcAft>
              <a:buSzPct val="100000"/>
              <a:buChar char="•"/>
            </a:pPr>
            <a:r>
              <a:rPr lang="en-US" sz="1400" dirty="0">
                <a:solidFill>
                  <a:srgbClr val="18181B"/>
                </a:solidFill>
                <a:latin typeface="Cairo" pitchFamily="34" charset="0"/>
                <a:ea typeface="Cairo" pitchFamily="34" charset="-122"/>
                <a:cs typeface="Cairo" pitchFamily="34" charset="-120"/>
              </a:rPr>
              <a:t>RTL + متجاوب</a:t>
            </a:r>
            <a:endParaRPr lang="en-US" sz="1400" dirty="0"/>
          </a:p>
        </p:txBody>
      </p:sp>
      <p:sp>
        <p:nvSpPr>
          <p:cNvPr id="22" name="Text 20"/>
          <p:cNvSpPr/>
          <p:nvPr/>
        </p:nvSpPr>
        <p:spPr>
          <a:xfrm>
            <a:off x="640080" y="5897880"/>
            <a:ext cx="10881360" cy="457200"/>
          </a:xfrm>
          <a:prstGeom prst="rect">
            <a:avLst/>
          </a:prstGeom>
          <a:noFill/>
          <a:ln/>
        </p:spPr>
        <p:txBody>
          <a:bodyPr wrap="square" lIns="0" tIns="0" rIns="0" bIns="0" rtlCol="0" anchor="ctr"/>
          <a:lstStyle/>
          <a:p>
            <a:pPr algn="ctr" indent="0" marL="0">
              <a:buNone/>
            </a:pPr>
            <a:r>
              <a:rPr lang="en-US" sz="1400" i="1" dirty="0">
                <a:solidFill>
                  <a:srgbClr val="18181B"/>
                </a:solidFill>
                <a:latin typeface="Cairo" pitchFamily="34" charset="0"/>
                <a:ea typeface="Cairo" pitchFamily="34" charset="-122"/>
                <a:cs typeface="Cairo" pitchFamily="34" charset="-120"/>
              </a:rPr>
              <a:t>الواجهة جاهزة وتتحدّث مباشرةً مع Laravel/MySQL عند اكتمال الخلفية.</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881360" cy="822960"/>
          </a:xfrm>
          <a:prstGeom prst="rect">
            <a:avLst/>
          </a:prstGeom>
          <a:noFill/>
          <a:ln/>
        </p:spPr>
        <p:txBody>
          <a:bodyPr wrap="square" lIns="0" tIns="0" rIns="0" bIns="0" rtlCol="0" anchor="ctr"/>
          <a:lstStyle/>
          <a:p>
            <a:pPr algn="r" indent="0" marL="0">
              <a:buNone/>
            </a:pPr>
            <a:r>
              <a:rPr lang="en-US" sz="3200" b="1" dirty="0">
                <a:solidFill>
                  <a:srgbClr val="0A0A0A"/>
                </a:solidFill>
                <a:latin typeface="Cairo" pitchFamily="34" charset="0"/>
                <a:ea typeface="Cairo" pitchFamily="34" charset="-122"/>
                <a:cs typeface="Cairo" pitchFamily="34" charset="-120"/>
              </a:rPr>
              <a:t>الجودة والأمان</a:t>
            </a:r>
            <a:endParaRPr lang="en-US" sz="3200" dirty="0"/>
          </a:p>
        </p:txBody>
      </p:sp>
      <p:sp>
        <p:nvSpPr>
          <p:cNvPr id="3" name="Text 1"/>
          <p:cNvSpPr/>
          <p:nvPr/>
        </p:nvSpPr>
        <p:spPr>
          <a:xfrm>
            <a:off x="640080" y="1344168"/>
            <a:ext cx="10881360" cy="365760"/>
          </a:xfrm>
          <a:prstGeom prst="rect">
            <a:avLst/>
          </a:prstGeom>
          <a:noFill/>
          <a:ln/>
        </p:spPr>
        <p:txBody>
          <a:bodyPr wrap="square" lIns="0" tIns="0" rIns="0" bIns="0" rtlCol="0" anchor="ctr"/>
          <a:lstStyle/>
          <a:p>
            <a:pPr algn="r" indent="0" marL="0">
              <a:buNone/>
            </a:pPr>
            <a:r>
              <a:rPr lang="en-US" sz="1300" spc="100" kern="0" dirty="0">
                <a:solidFill>
                  <a:srgbClr val="EA580C"/>
                </a:solidFill>
                <a:latin typeface="Calibri" pitchFamily="34" charset="0"/>
                <a:ea typeface="Calibri" pitchFamily="34" charset="-122"/>
                <a:cs typeface="Calibri" pitchFamily="34" charset="-120"/>
              </a:rPr>
              <a:t>QUALITY &amp; SECURITY</a:t>
            </a:r>
            <a:endParaRPr lang="en-US" sz="1300" dirty="0"/>
          </a:p>
        </p:txBody>
      </p:sp>
      <p:sp>
        <p:nvSpPr>
          <p:cNvPr id="4" name="Shape 2"/>
          <p:cNvSpPr/>
          <p:nvPr/>
        </p:nvSpPr>
        <p:spPr>
          <a:xfrm>
            <a:off x="658368" y="612648"/>
            <a:ext cx="164592" cy="164592"/>
          </a:xfrm>
          <a:prstGeom prst="ellipse">
            <a:avLst/>
          </a:prstGeom>
          <a:solidFill>
            <a:srgbClr val="F97316"/>
          </a:solidFill>
          <a:ln/>
        </p:spPr>
      </p:sp>
      <p:sp>
        <p:nvSpPr>
          <p:cNvPr id="5" name="Text 3"/>
          <p:cNvSpPr/>
          <p:nvPr/>
        </p:nvSpPr>
        <p:spPr>
          <a:xfrm>
            <a:off x="640080" y="6446520"/>
            <a:ext cx="8229600" cy="320040"/>
          </a:xfrm>
          <a:prstGeom prst="rect">
            <a:avLst/>
          </a:prstGeom>
          <a:noFill/>
          <a:ln/>
        </p:spPr>
        <p:txBody>
          <a:bodyPr wrap="square" lIns="0" tIns="0" rIns="0" bIns="0" rtlCol="0" anchor="ctr"/>
          <a:lstStyle/>
          <a:p>
            <a:pPr algn="r" indent="0" marL="0">
              <a:buNone/>
            </a:pPr>
            <a:r>
              <a:rPr lang="en-US" sz="900" dirty="0">
                <a:solidFill>
                  <a:srgbClr val="52525B"/>
                </a:solidFill>
                <a:latin typeface="Cairo" pitchFamily="34" charset="0"/>
                <a:ea typeface="Cairo" pitchFamily="34" charset="-122"/>
                <a:cs typeface="Cairo" pitchFamily="34" charset="-120"/>
              </a:rPr>
              <a:t>مساحاتي | Masahati</a:t>
            </a:r>
            <a:pPr algn="r" indent="0" marL="0">
              <a:buNone/>
            </a:pPr>
            <a:r>
              <a:rPr lang="en-US" sz="900" dirty="0">
                <a:solidFill>
                  <a:srgbClr val="52525B"/>
                </a:solidFill>
                <a:latin typeface="Cairo" pitchFamily="34" charset="0"/>
                <a:ea typeface="Cairo" pitchFamily="34" charset="-122"/>
                <a:cs typeface="Cairo" pitchFamily="34" charset="-120"/>
              </a:rPr>
              <a:t>    •    منصّة مساحات العمل المشتركة في غزة</a:t>
            </a:r>
            <a:endParaRPr lang="en-US" sz="900" dirty="0"/>
          </a:p>
        </p:txBody>
      </p:sp>
      <p:sp>
        <p:nvSpPr>
          <p:cNvPr id="6" name="Text 4"/>
          <p:cNvSpPr/>
          <p:nvPr/>
        </p:nvSpPr>
        <p:spPr>
          <a:xfrm>
            <a:off x="11247120" y="6446520"/>
            <a:ext cx="457200" cy="320040"/>
          </a:xfrm>
          <a:prstGeom prst="rect">
            <a:avLst/>
          </a:prstGeom>
          <a:noFill/>
          <a:ln/>
        </p:spPr>
        <p:txBody>
          <a:bodyPr wrap="square" lIns="0" tIns="0" rIns="0" bIns="0" rtlCol="0" anchor="ctr"/>
          <a:lstStyle/>
          <a:p>
            <a:pPr algn="ctr" indent="0" marL="0">
              <a:buNone/>
            </a:pPr>
            <a:r>
              <a:rPr lang="en-US" sz="900" dirty="0">
                <a:solidFill>
                  <a:srgbClr val="52525B"/>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640080" y="2011680"/>
            <a:ext cx="5394960" cy="1234440"/>
          </a:xfrm>
          <a:prstGeom prst="roundRect">
            <a:avLst>
              <a:gd name="adj" fmla="val 8889"/>
            </a:avLst>
          </a:prstGeom>
          <a:solidFill>
            <a:srgbClr val="F8FAFC"/>
          </a:solidFill>
          <a:ln w="12700">
            <a:solidFill>
              <a:srgbClr val="E4E4E7"/>
            </a:solidFill>
            <a:prstDash val="solid"/>
          </a:ln>
        </p:spPr>
      </p:sp>
      <p:sp>
        <p:nvSpPr>
          <p:cNvPr id="8" name="Shape 6"/>
          <p:cNvSpPr/>
          <p:nvPr/>
        </p:nvSpPr>
        <p:spPr>
          <a:xfrm>
            <a:off x="868680" y="2258568"/>
            <a:ext cx="731520" cy="731520"/>
          </a:xfrm>
          <a:prstGeom prst="ellipse">
            <a:avLst/>
          </a:prstGeom>
          <a:solidFill>
            <a:srgbClr val="FFF3E9"/>
          </a:solidFill>
          <a:ln/>
        </p:spPr>
      </p:sp>
      <p:sp>
        <p:nvSpPr>
          <p:cNvPr id="9" name="Text 7"/>
          <p:cNvSpPr/>
          <p:nvPr/>
        </p:nvSpPr>
        <p:spPr>
          <a:xfrm>
            <a:off x="868680" y="2258568"/>
            <a:ext cx="731520" cy="731520"/>
          </a:xfrm>
          <a:prstGeom prst="rect">
            <a:avLst/>
          </a:prstGeom>
          <a:noFill/>
          <a:ln/>
        </p:spPr>
        <p:txBody>
          <a:bodyPr wrap="square" lIns="0" tIns="0" rIns="0" bIns="0" rtlCol="0" anchor="ctr"/>
          <a:lstStyle/>
          <a:p>
            <a:pPr algn="ctr" indent="0" marL="0">
              <a:buNone/>
            </a:pPr>
            <a:r>
              <a:rPr lang="en-US" b="1" dirty="0">
                <a:solidFill>
                  <a:srgbClr val="16A34A"/>
                </a:solidFill>
                <a:latin typeface="Calibri" pitchFamily="34" charset="0"/>
                <a:ea typeface="Calibri" pitchFamily="34" charset="-122"/>
                <a:cs typeface="Calibri" pitchFamily="34" charset="-120"/>
              </a:rPr>
              <a:t>✓</a:t>
            </a:r>
            <a:endParaRPr lang="en-US" dirty="0"/>
          </a:p>
        </p:txBody>
      </p:sp>
      <p:sp>
        <p:nvSpPr>
          <p:cNvPr id="10" name="Text 8"/>
          <p:cNvSpPr/>
          <p:nvPr/>
        </p:nvSpPr>
        <p:spPr>
          <a:xfrm>
            <a:off x="1783080" y="2176272"/>
            <a:ext cx="4069080" cy="457200"/>
          </a:xfrm>
          <a:prstGeom prst="rect">
            <a:avLst/>
          </a:prstGeom>
          <a:noFill/>
          <a:ln/>
        </p:spPr>
        <p:txBody>
          <a:bodyPr wrap="square" lIns="0" tIns="0" rIns="0" bIns="0" rtlCol="0" anchor="ctr"/>
          <a:lstStyle/>
          <a:p>
            <a:pPr algn="r" indent="0" marL="0">
              <a:buNone/>
            </a:pPr>
            <a:r>
              <a:rPr lang="en-US" sz="1500" b="1" dirty="0">
                <a:solidFill>
                  <a:srgbClr val="18181B"/>
                </a:solidFill>
                <a:latin typeface="Cairo" pitchFamily="34" charset="0"/>
                <a:ea typeface="Cairo" pitchFamily="34" charset="-122"/>
                <a:cs typeface="Cairo" pitchFamily="34" charset="-120"/>
              </a:rPr>
              <a:t>بناء ونظام Lint بدون أخطاء</a:t>
            </a:r>
            <a:endParaRPr lang="en-US" sz="1500" dirty="0"/>
          </a:p>
        </p:txBody>
      </p:sp>
      <p:sp>
        <p:nvSpPr>
          <p:cNvPr id="11" name="Text 9"/>
          <p:cNvSpPr/>
          <p:nvPr/>
        </p:nvSpPr>
        <p:spPr>
          <a:xfrm>
            <a:off x="1783080" y="2670048"/>
            <a:ext cx="4069080" cy="457200"/>
          </a:xfrm>
          <a:prstGeom prst="rect">
            <a:avLst/>
          </a:prstGeom>
          <a:noFill/>
          <a:ln/>
        </p:spPr>
        <p:txBody>
          <a:bodyPr wrap="square" lIns="0" tIns="0" rIns="0" bIns="0" rtlCol="0" anchor="ctr"/>
          <a:lstStyle/>
          <a:p>
            <a:pPr algn="r" indent="0" marL="0">
              <a:buNone/>
            </a:pPr>
            <a:r>
              <a:rPr lang="en-US" sz="1200" dirty="0">
                <a:solidFill>
                  <a:srgbClr val="52525B"/>
                </a:solidFill>
                <a:latin typeface="Cairo" pitchFamily="34" charset="0"/>
                <a:ea typeface="Cairo" pitchFamily="34" charset="-122"/>
                <a:cs typeface="Cairo" pitchFamily="34" charset="-120"/>
              </a:rPr>
              <a:t>npm run build و npm run lint يمرّان بنجاح.</a:t>
            </a:r>
            <a:endParaRPr lang="en-US" sz="1200" dirty="0"/>
          </a:p>
        </p:txBody>
      </p:sp>
      <p:sp>
        <p:nvSpPr>
          <p:cNvPr id="12" name="Shape 10"/>
          <p:cNvSpPr/>
          <p:nvPr/>
        </p:nvSpPr>
        <p:spPr>
          <a:xfrm>
            <a:off x="6492240" y="2011680"/>
            <a:ext cx="5394960" cy="1234440"/>
          </a:xfrm>
          <a:prstGeom prst="roundRect">
            <a:avLst>
              <a:gd name="adj" fmla="val 8889"/>
            </a:avLst>
          </a:prstGeom>
          <a:solidFill>
            <a:srgbClr val="F8FAFC"/>
          </a:solidFill>
          <a:ln w="12700">
            <a:solidFill>
              <a:srgbClr val="E4E4E7"/>
            </a:solidFill>
            <a:prstDash val="solid"/>
          </a:ln>
        </p:spPr>
      </p:sp>
      <p:sp>
        <p:nvSpPr>
          <p:cNvPr id="13" name="Shape 11"/>
          <p:cNvSpPr/>
          <p:nvPr/>
        </p:nvSpPr>
        <p:spPr>
          <a:xfrm>
            <a:off x="6720840" y="2258568"/>
            <a:ext cx="731520" cy="731520"/>
          </a:xfrm>
          <a:prstGeom prst="ellipse">
            <a:avLst/>
          </a:prstGeom>
          <a:solidFill>
            <a:srgbClr val="FFF3E9"/>
          </a:solidFill>
          <a:ln/>
        </p:spPr>
      </p:sp>
      <p:sp>
        <p:nvSpPr>
          <p:cNvPr id="14" name="Text 12"/>
          <p:cNvSpPr/>
          <p:nvPr/>
        </p:nvSpPr>
        <p:spPr>
          <a:xfrm>
            <a:off x="6720840" y="2258568"/>
            <a:ext cx="731520" cy="731520"/>
          </a:xfrm>
          <a:prstGeom prst="rect">
            <a:avLst/>
          </a:prstGeom>
          <a:noFill/>
          <a:ln/>
        </p:spPr>
        <p:txBody>
          <a:bodyPr wrap="square" lIns="0" tIns="0" rIns="0" bIns="0" rtlCol="0" anchor="ctr"/>
          <a:lstStyle/>
          <a:p>
            <a:pPr algn="ctr" indent="0" marL="0">
              <a:buNone/>
            </a:pPr>
            <a:r>
              <a:rPr lang="en-US" b="1" dirty="0">
                <a:solidFill>
                  <a:srgbClr val="16A34A"/>
                </a:solidFill>
                <a:latin typeface="Calibri" pitchFamily="34" charset="0"/>
                <a:ea typeface="Calibri" pitchFamily="34" charset="-122"/>
                <a:cs typeface="Calibri" pitchFamily="34" charset="-120"/>
              </a:rPr>
              <a:t>🛡</a:t>
            </a:r>
            <a:endParaRPr lang="en-US" dirty="0"/>
          </a:p>
        </p:txBody>
      </p:sp>
      <p:sp>
        <p:nvSpPr>
          <p:cNvPr id="15" name="Text 13"/>
          <p:cNvSpPr/>
          <p:nvPr/>
        </p:nvSpPr>
        <p:spPr>
          <a:xfrm>
            <a:off x="7635240" y="2176272"/>
            <a:ext cx="4069080" cy="457200"/>
          </a:xfrm>
          <a:prstGeom prst="rect">
            <a:avLst/>
          </a:prstGeom>
          <a:noFill/>
          <a:ln/>
        </p:spPr>
        <p:txBody>
          <a:bodyPr wrap="square" lIns="0" tIns="0" rIns="0" bIns="0" rtlCol="0" anchor="ctr"/>
          <a:lstStyle/>
          <a:p>
            <a:pPr algn="r" indent="0" marL="0">
              <a:buNone/>
            </a:pPr>
            <a:r>
              <a:rPr lang="en-US" sz="1500" b="1" dirty="0">
                <a:solidFill>
                  <a:srgbClr val="18181B"/>
                </a:solidFill>
                <a:latin typeface="Cairo" pitchFamily="34" charset="0"/>
                <a:ea typeface="Cairo" pitchFamily="34" charset="-122"/>
                <a:cs typeface="Cairo" pitchFamily="34" charset="-120"/>
              </a:rPr>
              <a:t>0 ثغرات أمنية</a:t>
            </a:r>
            <a:endParaRPr lang="en-US" sz="1500" dirty="0"/>
          </a:p>
        </p:txBody>
      </p:sp>
      <p:sp>
        <p:nvSpPr>
          <p:cNvPr id="16" name="Text 14"/>
          <p:cNvSpPr/>
          <p:nvPr/>
        </p:nvSpPr>
        <p:spPr>
          <a:xfrm>
            <a:off x="7635240" y="2670048"/>
            <a:ext cx="4069080" cy="457200"/>
          </a:xfrm>
          <a:prstGeom prst="rect">
            <a:avLst/>
          </a:prstGeom>
          <a:noFill/>
          <a:ln/>
        </p:spPr>
        <p:txBody>
          <a:bodyPr wrap="square" lIns="0" tIns="0" rIns="0" bIns="0" rtlCol="0" anchor="ctr"/>
          <a:lstStyle/>
          <a:p>
            <a:pPr algn="r" indent="0" marL="0">
              <a:buNone/>
            </a:pPr>
            <a:r>
              <a:rPr lang="en-US" sz="1200" dirty="0">
                <a:solidFill>
                  <a:srgbClr val="52525B"/>
                </a:solidFill>
                <a:latin typeface="Cairo" pitchFamily="34" charset="0"/>
                <a:ea typeface="Cairo" pitchFamily="34" charset="-122"/>
                <a:cs typeface="Cairo" pitchFamily="34" charset="-120"/>
              </a:rPr>
              <a:t>تقرير npm audit نظيف تماماً.</a:t>
            </a:r>
            <a:endParaRPr lang="en-US" sz="1200" dirty="0"/>
          </a:p>
        </p:txBody>
      </p:sp>
      <p:sp>
        <p:nvSpPr>
          <p:cNvPr id="17" name="Shape 15"/>
          <p:cNvSpPr/>
          <p:nvPr/>
        </p:nvSpPr>
        <p:spPr>
          <a:xfrm>
            <a:off x="640080" y="3566160"/>
            <a:ext cx="5394960" cy="1234440"/>
          </a:xfrm>
          <a:prstGeom prst="roundRect">
            <a:avLst>
              <a:gd name="adj" fmla="val 8889"/>
            </a:avLst>
          </a:prstGeom>
          <a:solidFill>
            <a:srgbClr val="F8FAFC"/>
          </a:solidFill>
          <a:ln w="12700">
            <a:solidFill>
              <a:srgbClr val="E4E4E7"/>
            </a:solidFill>
            <a:prstDash val="solid"/>
          </a:ln>
        </p:spPr>
      </p:sp>
      <p:sp>
        <p:nvSpPr>
          <p:cNvPr id="18" name="Shape 16"/>
          <p:cNvSpPr/>
          <p:nvPr/>
        </p:nvSpPr>
        <p:spPr>
          <a:xfrm>
            <a:off x="868680" y="3813048"/>
            <a:ext cx="731520" cy="731520"/>
          </a:xfrm>
          <a:prstGeom prst="ellipse">
            <a:avLst/>
          </a:prstGeom>
          <a:solidFill>
            <a:srgbClr val="FFF3E9"/>
          </a:solidFill>
          <a:ln/>
        </p:spPr>
      </p:sp>
      <p:sp>
        <p:nvSpPr>
          <p:cNvPr id="19" name="Text 17"/>
          <p:cNvSpPr/>
          <p:nvPr/>
        </p:nvSpPr>
        <p:spPr>
          <a:xfrm>
            <a:off x="868680" y="3813048"/>
            <a:ext cx="731520" cy="731520"/>
          </a:xfrm>
          <a:prstGeom prst="rect">
            <a:avLst/>
          </a:prstGeom>
          <a:noFill/>
          <a:ln/>
        </p:spPr>
        <p:txBody>
          <a:bodyPr wrap="square" lIns="0" tIns="0" rIns="0" bIns="0" rtlCol="0" anchor="ctr"/>
          <a:lstStyle/>
          <a:p>
            <a:pPr algn="ctr" indent="0" marL="0">
              <a:buNone/>
            </a:pPr>
            <a:r>
              <a:rPr lang="en-US" b="1" dirty="0">
                <a:solidFill>
                  <a:srgbClr val="16A34A"/>
                </a:solidFill>
                <a:latin typeface="Calibri" pitchFamily="34" charset="0"/>
                <a:ea typeface="Calibri" pitchFamily="34" charset="-122"/>
                <a:cs typeface="Calibri" pitchFamily="34" charset="-120"/>
              </a:rPr>
              <a:t>📱</a:t>
            </a:r>
            <a:endParaRPr lang="en-US" dirty="0"/>
          </a:p>
        </p:txBody>
      </p:sp>
      <p:sp>
        <p:nvSpPr>
          <p:cNvPr id="20" name="Text 18"/>
          <p:cNvSpPr/>
          <p:nvPr/>
        </p:nvSpPr>
        <p:spPr>
          <a:xfrm>
            <a:off x="1783080" y="3730752"/>
            <a:ext cx="4069080" cy="457200"/>
          </a:xfrm>
          <a:prstGeom prst="rect">
            <a:avLst/>
          </a:prstGeom>
          <a:noFill/>
          <a:ln/>
        </p:spPr>
        <p:txBody>
          <a:bodyPr wrap="square" lIns="0" tIns="0" rIns="0" bIns="0" rtlCol="0" anchor="ctr"/>
          <a:lstStyle/>
          <a:p>
            <a:pPr algn="r" indent="0" marL="0">
              <a:buNone/>
            </a:pPr>
            <a:r>
              <a:rPr lang="en-US" sz="1500" b="1" dirty="0">
                <a:solidFill>
                  <a:srgbClr val="18181B"/>
                </a:solidFill>
                <a:latin typeface="Cairo" pitchFamily="34" charset="0"/>
                <a:ea typeface="Cairo" pitchFamily="34" charset="-122"/>
                <a:cs typeface="Cairo" pitchFamily="34" charset="-120"/>
              </a:rPr>
              <a:t>متجاوب مع لمس 44px</a:t>
            </a:r>
            <a:endParaRPr lang="en-US" sz="1500" dirty="0"/>
          </a:p>
        </p:txBody>
      </p:sp>
      <p:sp>
        <p:nvSpPr>
          <p:cNvPr id="21" name="Text 19"/>
          <p:cNvSpPr/>
          <p:nvPr/>
        </p:nvSpPr>
        <p:spPr>
          <a:xfrm>
            <a:off x="1783080" y="4224528"/>
            <a:ext cx="4069080" cy="457200"/>
          </a:xfrm>
          <a:prstGeom prst="rect">
            <a:avLst/>
          </a:prstGeom>
          <a:noFill/>
          <a:ln/>
        </p:spPr>
        <p:txBody>
          <a:bodyPr wrap="square" lIns="0" tIns="0" rIns="0" bIns="0" rtlCol="0" anchor="ctr"/>
          <a:lstStyle/>
          <a:p>
            <a:pPr algn="r" indent="0" marL="0">
              <a:buNone/>
            </a:pPr>
            <a:r>
              <a:rPr lang="en-US" sz="1200" dirty="0">
                <a:solidFill>
                  <a:srgbClr val="52525B"/>
                </a:solidFill>
                <a:latin typeface="Cairo" pitchFamily="34" charset="0"/>
                <a:ea typeface="Cairo" pitchFamily="34" charset="-122"/>
                <a:cs typeface="Cairo" pitchFamily="34" charset="-120"/>
              </a:rPr>
              <a:t>حقول 16px تمنع تكبير iOS، safe-area للجوال.</a:t>
            </a:r>
            <a:endParaRPr lang="en-US" sz="1200" dirty="0"/>
          </a:p>
        </p:txBody>
      </p:sp>
      <p:sp>
        <p:nvSpPr>
          <p:cNvPr id="22" name="Shape 20"/>
          <p:cNvSpPr/>
          <p:nvPr/>
        </p:nvSpPr>
        <p:spPr>
          <a:xfrm>
            <a:off x="6492240" y="3566160"/>
            <a:ext cx="5394960" cy="1234440"/>
          </a:xfrm>
          <a:prstGeom prst="roundRect">
            <a:avLst>
              <a:gd name="adj" fmla="val 8889"/>
            </a:avLst>
          </a:prstGeom>
          <a:solidFill>
            <a:srgbClr val="F8FAFC"/>
          </a:solidFill>
          <a:ln w="12700">
            <a:solidFill>
              <a:srgbClr val="E4E4E7"/>
            </a:solidFill>
            <a:prstDash val="solid"/>
          </a:ln>
        </p:spPr>
      </p:sp>
      <p:sp>
        <p:nvSpPr>
          <p:cNvPr id="23" name="Shape 21"/>
          <p:cNvSpPr/>
          <p:nvPr/>
        </p:nvSpPr>
        <p:spPr>
          <a:xfrm>
            <a:off x="6720840" y="3813048"/>
            <a:ext cx="731520" cy="731520"/>
          </a:xfrm>
          <a:prstGeom prst="ellipse">
            <a:avLst/>
          </a:prstGeom>
          <a:solidFill>
            <a:srgbClr val="FFF3E9"/>
          </a:solidFill>
          <a:ln/>
        </p:spPr>
      </p:sp>
      <p:sp>
        <p:nvSpPr>
          <p:cNvPr id="24" name="Text 22"/>
          <p:cNvSpPr/>
          <p:nvPr/>
        </p:nvSpPr>
        <p:spPr>
          <a:xfrm>
            <a:off x="6720840" y="3813048"/>
            <a:ext cx="731520" cy="731520"/>
          </a:xfrm>
          <a:prstGeom prst="rect">
            <a:avLst/>
          </a:prstGeom>
          <a:noFill/>
          <a:ln/>
        </p:spPr>
        <p:txBody>
          <a:bodyPr wrap="square" lIns="0" tIns="0" rIns="0" bIns="0" rtlCol="0" anchor="ctr"/>
          <a:lstStyle/>
          <a:p>
            <a:pPr algn="ctr" indent="0" marL="0">
              <a:buNone/>
            </a:pPr>
            <a:r>
              <a:rPr lang="en-US" b="1" dirty="0">
                <a:solidFill>
                  <a:srgbClr val="16A34A"/>
                </a:solidFill>
                <a:latin typeface="Calibri" pitchFamily="34" charset="0"/>
                <a:ea typeface="Calibri" pitchFamily="34" charset="-122"/>
                <a:cs typeface="Calibri" pitchFamily="34" charset="-120"/>
              </a:rPr>
              <a:t>♿</a:t>
            </a:r>
            <a:endParaRPr lang="en-US" dirty="0"/>
          </a:p>
        </p:txBody>
      </p:sp>
      <p:sp>
        <p:nvSpPr>
          <p:cNvPr id="25" name="Text 23"/>
          <p:cNvSpPr/>
          <p:nvPr/>
        </p:nvSpPr>
        <p:spPr>
          <a:xfrm>
            <a:off x="7635240" y="3730752"/>
            <a:ext cx="4069080" cy="457200"/>
          </a:xfrm>
          <a:prstGeom prst="rect">
            <a:avLst/>
          </a:prstGeom>
          <a:noFill/>
          <a:ln/>
        </p:spPr>
        <p:txBody>
          <a:bodyPr wrap="square" lIns="0" tIns="0" rIns="0" bIns="0" rtlCol="0" anchor="ctr"/>
          <a:lstStyle/>
          <a:p>
            <a:pPr algn="r" indent="0" marL="0">
              <a:buNone/>
            </a:pPr>
            <a:r>
              <a:rPr lang="en-US" sz="1500" b="1" dirty="0">
                <a:solidFill>
                  <a:srgbClr val="18181B"/>
                </a:solidFill>
                <a:latin typeface="Cairo" pitchFamily="34" charset="0"/>
                <a:ea typeface="Cairo" pitchFamily="34" charset="-122"/>
                <a:cs typeface="Cairo" pitchFamily="34" charset="-120"/>
              </a:rPr>
              <a:t>تفضيل تقليل الحركة</a:t>
            </a:r>
            <a:endParaRPr lang="en-US" sz="1500" dirty="0"/>
          </a:p>
        </p:txBody>
      </p:sp>
      <p:sp>
        <p:nvSpPr>
          <p:cNvPr id="26" name="Text 24"/>
          <p:cNvSpPr/>
          <p:nvPr/>
        </p:nvSpPr>
        <p:spPr>
          <a:xfrm>
            <a:off x="7635240" y="4224528"/>
            <a:ext cx="4069080" cy="457200"/>
          </a:xfrm>
          <a:prstGeom prst="rect">
            <a:avLst/>
          </a:prstGeom>
          <a:noFill/>
          <a:ln/>
        </p:spPr>
        <p:txBody>
          <a:bodyPr wrap="square" lIns="0" tIns="0" rIns="0" bIns="0" rtlCol="0" anchor="ctr"/>
          <a:lstStyle/>
          <a:p>
            <a:pPr algn="r" indent="0" marL="0">
              <a:buNone/>
            </a:pPr>
            <a:r>
              <a:rPr lang="en-US" sz="1200" dirty="0">
                <a:solidFill>
                  <a:srgbClr val="52525B"/>
                </a:solidFill>
                <a:latin typeface="Cairo" pitchFamily="34" charset="0"/>
                <a:ea typeface="Cairo" pitchFamily="34" charset="-122"/>
                <a:cs typeface="Cairo" pitchFamily="34" charset="-120"/>
              </a:rPr>
              <a:t>احترام prefers-reduced-motion في كل الأنيميشن.</a:t>
            </a:r>
            <a:endParaRPr lang="en-US" sz="1200" dirty="0"/>
          </a:p>
        </p:txBody>
      </p:sp>
      <p:sp>
        <p:nvSpPr>
          <p:cNvPr id="27" name="Shape 25"/>
          <p:cNvSpPr/>
          <p:nvPr/>
        </p:nvSpPr>
        <p:spPr>
          <a:xfrm>
            <a:off x="640080" y="5120640"/>
            <a:ext cx="5394960" cy="1234440"/>
          </a:xfrm>
          <a:prstGeom prst="roundRect">
            <a:avLst>
              <a:gd name="adj" fmla="val 8889"/>
            </a:avLst>
          </a:prstGeom>
          <a:solidFill>
            <a:srgbClr val="F8FAFC"/>
          </a:solidFill>
          <a:ln w="12700">
            <a:solidFill>
              <a:srgbClr val="E4E4E7"/>
            </a:solidFill>
            <a:prstDash val="solid"/>
          </a:ln>
        </p:spPr>
      </p:sp>
      <p:sp>
        <p:nvSpPr>
          <p:cNvPr id="28" name="Shape 26"/>
          <p:cNvSpPr/>
          <p:nvPr/>
        </p:nvSpPr>
        <p:spPr>
          <a:xfrm>
            <a:off x="868680" y="5367528"/>
            <a:ext cx="731520" cy="731520"/>
          </a:xfrm>
          <a:prstGeom prst="ellipse">
            <a:avLst/>
          </a:prstGeom>
          <a:solidFill>
            <a:srgbClr val="FFF3E9"/>
          </a:solidFill>
          <a:ln/>
        </p:spPr>
      </p:sp>
      <p:sp>
        <p:nvSpPr>
          <p:cNvPr id="29" name="Text 27"/>
          <p:cNvSpPr/>
          <p:nvPr/>
        </p:nvSpPr>
        <p:spPr>
          <a:xfrm>
            <a:off x="868680" y="5367528"/>
            <a:ext cx="731520" cy="731520"/>
          </a:xfrm>
          <a:prstGeom prst="rect">
            <a:avLst/>
          </a:prstGeom>
          <a:noFill/>
          <a:ln/>
        </p:spPr>
        <p:txBody>
          <a:bodyPr wrap="square" lIns="0" tIns="0" rIns="0" bIns="0" rtlCol="0" anchor="ctr"/>
          <a:lstStyle/>
          <a:p>
            <a:pPr algn="ctr" indent="0" marL="0">
              <a:buNone/>
            </a:pPr>
            <a:r>
              <a:rPr lang="en-US" b="1" dirty="0">
                <a:solidFill>
                  <a:srgbClr val="16A34A"/>
                </a:solidFill>
                <a:latin typeface="Calibri" pitchFamily="34" charset="0"/>
                <a:ea typeface="Calibri" pitchFamily="34" charset="-122"/>
                <a:cs typeface="Calibri" pitchFamily="34" charset="-120"/>
              </a:rPr>
              <a:t>🔒</a:t>
            </a:r>
            <a:endParaRPr lang="en-US" dirty="0"/>
          </a:p>
        </p:txBody>
      </p:sp>
      <p:sp>
        <p:nvSpPr>
          <p:cNvPr id="30" name="Text 28"/>
          <p:cNvSpPr/>
          <p:nvPr/>
        </p:nvSpPr>
        <p:spPr>
          <a:xfrm>
            <a:off x="1783080" y="5285232"/>
            <a:ext cx="4069080" cy="457200"/>
          </a:xfrm>
          <a:prstGeom prst="rect">
            <a:avLst/>
          </a:prstGeom>
          <a:noFill/>
          <a:ln/>
        </p:spPr>
        <p:txBody>
          <a:bodyPr wrap="square" lIns="0" tIns="0" rIns="0" bIns="0" rtlCol="0" anchor="ctr"/>
          <a:lstStyle/>
          <a:p>
            <a:pPr algn="r" indent="0" marL="0">
              <a:buNone/>
            </a:pPr>
            <a:r>
              <a:rPr lang="en-US" sz="1500" b="1" dirty="0">
                <a:solidFill>
                  <a:srgbClr val="18181B"/>
                </a:solidFill>
                <a:latin typeface="Cairo" pitchFamily="34" charset="0"/>
                <a:ea typeface="Cairo" pitchFamily="34" charset="-122"/>
                <a:cs typeface="Cairo" pitchFamily="34" charset="-120"/>
              </a:rPr>
              <a:t>إزالة تسريب كلمة المرور</a:t>
            </a:r>
            <a:endParaRPr lang="en-US" sz="1500" dirty="0"/>
          </a:p>
        </p:txBody>
      </p:sp>
      <p:sp>
        <p:nvSpPr>
          <p:cNvPr id="31" name="Text 29"/>
          <p:cNvSpPr/>
          <p:nvPr/>
        </p:nvSpPr>
        <p:spPr>
          <a:xfrm>
            <a:off x="1783080" y="5779008"/>
            <a:ext cx="4069080" cy="457200"/>
          </a:xfrm>
          <a:prstGeom prst="rect">
            <a:avLst/>
          </a:prstGeom>
          <a:noFill/>
          <a:ln/>
        </p:spPr>
        <p:txBody>
          <a:bodyPr wrap="square" lIns="0" tIns="0" rIns="0" bIns="0" rtlCol="0" anchor="ctr"/>
          <a:lstStyle/>
          <a:p>
            <a:pPr algn="r" indent="0" marL="0">
              <a:buNone/>
            </a:pPr>
            <a:r>
              <a:rPr lang="en-US" sz="1200" dirty="0">
                <a:solidFill>
                  <a:srgbClr val="52525B"/>
                </a:solidFill>
                <a:latin typeface="Cairo" pitchFamily="34" charset="0"/>
                <a:ea typeface="Cairo" pitchFamily="34" charset="-122"/>
                <a:cs typeface="Cairo" pitchFamily="34" charset="-120"/>
              </a:rPr>
              <a:t>حُذف console.log للبيانات الحسّاسة.</a:t>
            </a:r>
            <a:endParaRPr lang="en-US" sz="1200" dirty="0"/>
          </a:p>
        </p:txBody>
      </p:sp>
      <p:sp>
        <p:nvSpPr>
          <p:cNvPr id="32" name="Shape 30"/>
          <p:cNvSpPr/>
          <p:nvPr/>
        </p:nvSpPr>
        <p:spPr>
          <a:xfrm>
            <a:off x="6492240" y="5120640"/>
            <a:ext cx="5394960" cy="1234440"/>
          </a:xfrm>
          <a:prstGeom prst="roundRect">
            <a:avLst>
              <a:gd name="adj" fmla="val 8889"/>
            </a:avLst>
          </a:prstGeom>
          <a:solidFill>
            <a:srgbClr val="F8FAFC"/>
          </a:solidFill>
          <a:ln w="12700">
            <a:solidFill>
              <a:srgbClr val="E4E4E7"/>
            </a:solidFill>
            <a:prstDash val="solid"/>
          </a:ln>
        </p:spPr>
      </p:sp>
      <p:sp>
        <p:nvSpPr>
          <p:cNvPr id="33" name="Shape 31"/>
          <p:cNvSpPr/>
          <p:nvPr/>
        </p:nvSpPr>
        <p:spPr>
          <a:xfrm>
            <a:off x="6720840" y="5367528"/>
            <a:ext cx="731520" cy="731520"/>
          </a:xfrm>
          <a:prstGeom prst="ellipse">
            <a:avLst/>
          </a:prstGeom>
          <a:solidFill>
            <a:srgbClr val="FFF3E9"/>
          </a:solidFill>
          <a:ln/>
        </p:spPr>
      </p:sp>
      <p:sp>
        <p:nvSpPr>
          <p:cNvPr id="34" name="Text 32"/>
          <p:cNvSpPr/>
          <p:nvPr/>
        </p:nvSpPr>
        <p:spPr>
          <a:xfrm>
            <a:off x="6720840" y="5367528"/>
            <a:ext cx="731520" cy="731520"/>
          </a:xfrm>
          <a:prstGeom prst="rect">
            <a:avLst/>
          </a:prstGeom>
          <a:noFill/>
          <a:ln/>
        </p:spPr>
        <p:txBody>
          <a:bodyPr wrap="square" lIns="0" tIns="0" rIns="0" bIns="0" rtlCol="0" anchor="ctr"/>
          <a:lstStyle/>
          <a:p>
            <a:pPr algn="ctr" indent="0" marL="0">
              <a:buNone/>
            </a:pPr>
            <a:r>
              <a:rPr lang="en-US" b="1" dirty="0">
                <a:solidFill>
                  <a:srgbClr val="16A34A"/>
                </a:solidFill>
                <a:latin typeface="Calibri" pitchFamily="34" charset="0"/>
                <a:ea typeface="Calibri" pitchFamily="34" charset="-122"/>
                <a:cs typeface="Calibri" pitchFamily="34" charset="-120"/>
              </a:rPr>
              <a:t>📐</a:t>
            </a:r>
            <a:endParaRPr lang="en-US" dirty="0"/>
          </a:p>
        </p:txBody>
      </p:sp>
      <p:sp>
        <p:nvSpPr>
          <p:cNvPr id="35" name="Text 33"/>
          <p:cNvSpPr/>
          <p:nvPr/>
        </p:nvSpPr>
        <p:spPr>
          <a:xfrm>
            <a:off x="7635240" y="5285232"/>
            <a:ext cx="4069080" cy="457200"/>
          </a:xfrm>
          <a:prstGeom prst="rect">
            <a:avLst/>
          </a:prstGeom>
          <a:noFill/>
          <a:ln/>
        </p:spPr>
        <p:txBody>
          <a:bodyPr wrap="square" lIns="0" tIns="0" rIns="0" bIns="0" rtlCol="0" anchor="ctr"/>
          <a:lstStyle/>
          <a:p>
            <a:pPr algn="r" indent="0" marL="0">
              <a:buNone/>
            </a:pPr>
            <a:r>
              <a:rPr lang="en-US" sz="1500" b="1" dirty="0">
                <a:solidFill>
                  <a:srgbClr val="18181B"/>
                </a:solidFill>
                <a:latin typeface="Cairo" pitchFamily="34" charset="0"/>
                <a:ea typeface="Cairo" pitchFamily="34" charset="-122"/>
                <a:cs typeface="Cairo" pitchFamily="34" charset="-120"/>
              </a:rPr>
              <a:t>تثبيت تخطيط بطاقة الدخول</a:t>
            </a:r>
            <a:endParaRPr lang="en-US" sz="1500" dirty="0"/>
          </a:p>
        </p:txBody>
      </p:sp>
      <p:sp>
        <p:nvSpPr>
          <p:cNvPr id="36" name="Text 34"/>
          <p:cNvSpPr/>
          <p:nvPr/>
        </p:nvSpPr>
        <p:spPr>
          <a:xfrm>
            <a:off x="7635240" y="5779008"/>
            <a:ext cx="4069080" cy="457200"/>
          </a:xfrm>
          <a:prstGeom prst="rect">
            <a:avLst/>
          </a:prstGeom>
          <a:noFill/>
          <a:ln/>
        </p:spPr>
        <p:txBody>
          <a:bodyPr wrap="square" lIns="0" tIns="0" rIns="0" bIns="0" rtlCol="0" anchor="ctr"/>
          <a:lstStyle/>
          <a:p>
            <a:pPr algn="r" indent="0" marL="0">
              <a:buNone/>
            </a:pPr>
            <a:r>
              <a:rPr lang="en-US" sz="1200" dirty="0">
                <a:solidFill>
                  <a:srgbClr val="52525B"/>
                </a:solidFill>
                <a:latin typeface="Cairo" pitchFamily="34" charset="0"/>
                <a:ea typeface="Cairo" pitchFamily="34" charset="-122"/>
                <a:cs typeface="Cairo" pitchFamily="34" charset="-120"/>
              </a:rPr>
              <a:t>حجز ارتفاع ثابت لفتحات الخطأ — بلا قفز.</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502920"/>
            <a:ext cx="10881360" cy="822960"/>
          </a:xfrm>
          <a:prstGeom prst="rect">
            <a:avLst/>
          </a:prstGeom>
          <a:noFill/>
          <a:ln/>
        </p:spPr>
        <p:txBody>
          <a:bodyPr wrap="square" lIns="0" tIns="0" rIns="0" bIns="0" rtlCol="0" anchor="ctr"/>
          <a:lstStyle/>
          <a:p>
            <a:pPr algn="r" indent="0" marL="0">
              <a:buNone/>
            </a:pPr>
            <a:r>
              <a:rPr lang="en-US" sz="3200" b="1" dirty="0">
                <a:solidFill>
                  <a:srgbClr val="0A0A0A"/>
                </a:solidFill>
                <a:latin typeface="Cairo" pitchFamily="34" charset="0"/>
                <a:ea typeface="Cairo" pitchFamily="34" charset="-122"/>
                <a:cs typeface="Cairo" pitchFamily="34" charset="-120"/>
              </a:rPr>
              <a:t>خارطة الطريق</a:t>
            </a:r>
            <a:endParaRPr lang="en-US" sz="3200" dirty="0"/>
          </a:p>
        </p:txBody>
      </p:sp>
      <p:sp>
        <p:nvSpPr>
          <p:cNvPr id="3" name="Text 1"/>
          <p:cNvSpPr/>
          <p:nvPr/>
        </p:nvSpPr>
        <p:spPr>
          <a:xfrm>
            <a:off x="640080" y="1344168"/>
            <a:ext cx="10881360" cy="365760"/>
          </a:xfrm>
          <a:prstGeom prst="rect">
            <a:avLst/>
          </a:prstGeom>
          <a:noFill/>
          <a:ln/>
        </p:spPr>
        <p:txBody>
          <a:bodyPr wrap="square" lIns="0" tIns="0" rIns="0" bIns="0" rtlCol="0" anchor="ctr"/>
          <a:lstStyle/>
          <a:p>
            <a:pPr algn="r" indent="0" marL="0">
              <a:buNone/>
            </a:pPr>
            <a:r>
              <a:rPr lang="en-US" sz="1300" spc="100" kern="0" dirty="0">
                <a:solidFill>
                  <a:srgbClr val="EA580C"/>
                </a:solidFill>
                <a:latin typeface="Calibri" pitchFamily="34" charset="0"/>
                <a:ea typeface="Calibri" pitchFamily="34" charset="-122"/>
                <a:cs typeface="Calibri" pitchFamily="34" charset="-120"/>
              </a:rPr>
              <a:t>ROADMAP</a:t>
            </a:r>
            <a:endParaRPr lang="en-US" sz="1300" dirty="0"/>
          </a:p>
        </p:txBody>
      </p:sp>
      <p:sp>
        <p:nvSpPr>
          <p:cNvPr id="4" name="Shape 2"/>
          <p:cNvSpPr/>
          <p:nvPr/>
        </p:nvSpPr>
        <p:spPr>
          <a:xfrm>
            <a:off x="658368" y="612648"/>
            <a:ext cx="164592" cy="164592"/>
          </a:xfrm>
          <a:prstGeom prst="ellipse">
            <a:avLst/>
          </a:prstGeom>
          <a:solidFill>
            <a:srgbClr val="F97316"/>
          </a:solidFill>
          <a:ln/>
        </p:spPr>
      </p:sp>
      <p:sp>
        <p:nvSpPr>
          <p:cNvPr id="5" name="Text 3"/>
          <p:cNvSpPr/>
          <p:nvPr/>
        </p:nvSpPr>
        <p:spPr>
          <a:xfrm>
            <a:off x="640080" y="6446520"/>
            <a:ext cx="8229600" cy="320040"/>
          </a:xfrm>
          <a:prstGeom prst="rect">
            <a:avLst/>
          </a:prstGeom>
          <a:noFill/>
          <a:ln/>
        </p:spPr>
        <p:txBody>
          <a:bodyPr wrap="square" lIns="0" tIns="0" rIns="0" bIns="0" rtlCol="0" anchor="ctr"/>
          <a:lstStyle/>
          <a:p>
            <a:pPr algn="r" indent="0" marL="0">
              <a:buNone/>
            </a:pPr>
            <a:r>
              <a:rPr lang="en-US" sz="900" dirty="0">
                <a:solidFill>
                  <a:srgbClr val="52525B"/>
                </a:solidFill>
                <a:latin typeface="Cairo" pitchFamily="34" charset="0"/>
                <a:ea typeface="Cairo" pitchFamily="34" charset="-122"/>
                <a:cs typeface="Cairo" pitchFamily="34" charset="-120"/>
              </a:rPr>
              <a:t>مساحاتي | Masahati</a:t>
            </a:r>
            <a:pPr algn="r" indent="0" marL="0">
              <a:buNone/>
            </a:pPr>
            <a:r>
              <a:rPr lang="en-US" sz="900" dirty="0">
                <a:solidFill>
                  <a:srgbClr val="52525B"/>
                </a:solidFill>
                <a:latin typeface="Cairo" pitchFamily="34" charset="0"/>
                <a:ea typeface="Cairo" pitchFamily="34" charset="-122"/>
                <a:cs typeface="Cairo" pitchFamily="34" charset="-120"/>
              </a:rPr>
              <a:t>    •    منصّة مساحات العمل المشتركة في غزة</a:t>
            </a:r>
            <a:endParaRPr lang="en-US" sz="900" dirty="0"/>
          </a:p>
        </p:txBody>
      </p:sp>
      <p:sp>
        <p:nvSpPr>
          <p:cNvPr id="6" name="Text 4"/>
          <p:cNvSpPr/>
          <p:nvPr/>
        </p:nvSpPr>
        <p:spPr>
          <a:xfrm>
            <a:off x="11247120" y="6446520"/>
            <a:ext cx="457200" cy="320040"/>
          </a:xfrm>
          <a:prstGeom prst="rect">
            <a:avLst/>
          </a:prstGeom>
          <a:noFill/>
          <a:ln/>
        </p:spPr>
        <p:txBody>
          <a:bodyPr wrap="square" lIns="0" tIns="0" rIns="0" bIns="0" rtlCol="0" anchor="ctr"/>
          <a:lstStyle/>
          <a:p>
            <a:pPr algn="ctr" indent="0" marL="0">
              <a:buNone/>
            </a:pPr>
            <a:r>
              <a:rPr lang="en-US" sz="900" dirty="0">
                <a:solidFill>
                  <a:srgbClr val="52525B"/>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1371600" y="2286000"/>
            <a:ext cx="0" cy="3364992"/>
          </a:xfrm>
          <a:prstGeom prst="line">
            <a:avLst/>
          </a:prstGeom>
          <a:noFill/>
          <a:ln w="31750">
            <a:solidFill>
              <a:srgbClr val="F97316"/>
            </a:solidFill>
            <a:prstDash val="solid"/>
          </a:ln>
        </p:spPr>
      </p:sp>
      <p:sp>
        <p:nvSpPr>
          <p:cNvPr id="8" name="Shape 6"/>
          <p:cNvSpPr/>
          <p:nvPr/>
        </p:nvSpPr>
        <p:spPr>
          <a:xfrm>
            <a:off x="1115568" y="2029968"/>
            <a:ext cx="512064" cy="512064"/>
          </a:xfrm>
          <a:prstGeom prst="ellipse">
            <a:avLst/>
          </a:prstGeom>
          <a:solidFill>
            <a:srgbClr val="F97316"/>
          </a:solidFill>
          <a:ln w="25400">
            <a:solidFill>
              <a:srgbClr val="FFFFFF"/>
            </a:solidFill>
            <a:prstDash val="solid"/>
          </a:ln>
        </p:spPr>
      </p:sp>
      <p:sp>
        <p:nvSpPr>
          <p:cNvPr id="9" name="Text 7"/>
          <p:cNvSpPr/>
          <p:nvPr/>
        </p:nvSpPr>
        <p:spPr>
          <a:xfrm>
            <a:off x="1115568" y="202996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1828800" y="2029968"/>
            <a:ext cx="1828800" cy="512064"/>
          </a:xfrm>
          <a:prstGeom prst="rect">
            <a:avLst/>
          </a:prstGeom>
          <a:noFill/>
          <a:ln/>
        </p:spPr>
        <p:txBody>
          <a:bodyPr wrap="square" lIns="0" tIns="0" rIns="0" bIns="0" rtlCol="0" anchor="ctr"/>
          <a:lstStyle/>
          <a:p>
            <a:pPr algn="r" indent="0" marL="0">
              <a:buNone/>
            </a:pPr>
            <a:r>
              <a:rPr lang="en-US" sz="1600" b="1" dirty="0">
                <a:solidFill>
                  <a:srgbClr val="18181B"/>
                </a:solidFill>
                <a:latin typeface="Cairo" pitchFamily="34" charset="0"/>
                <a:ea typeface="Cairo" pitchFamily="34" charset="-122"/>
                <a:cs typeface="Cairo" pitchFamily="34" charset="-120"/>
              </a:rPr>
              <a:t>اليوم</a:t>
            </a:r>
            <a:endParaRPr lang="en-US" sz="1600" dirty="0"/>
          </a:p>
        </p:txBody>
      </p:sp>
      <p:sp>
        <p:nvSpPr>
          <p:cNvPr id="11" name="Text 9"/>
          <p:cNvSpPr/>
          <p:nvPr/>
        </p:nvSpPr>
        <p:spPr>
          <a:xfrm>
            <a:off x="1828800" y="2450592"/>
            <a:ext cx="1828800" cy="274320"/>
          </a:xfrm>
          <a:prstGeom prst="rect">
            <a:avLst/>
          </a:prstGeom>
          <a:noFill/>
          <a:ln/>
        </p:spPr>
        <p:txBody>
          <a:bodyPr wrap="square" lIns="0" tIns="0" rIns="0" bIns="0" rtlCol="0" anchor="ctr"/>
          <a:lstStyle/>
          <a:p>
            <a:pPr algn="r" indent="0" marL="0">
              <a:buNone/>
            </a:pPr>
            <a:r>
              <a:rPr lang="en-US" sz="1000" spc="100" kern="0" dirty="0">
                <a:solidFill>
                  <a:srgbClr val="EA580C"/>
                </a:solidFill>
                <a:latin typeface="Calibri" pitchFamily="34" charset="0"/>
                <a:ea typeface="Calibri" pitchFamily="34" charset="-122"/>
                <a:cs typeface="Calibri" pitchFamily="34" charset="-120"/>
              </a:rPr>
              <a:t>NOW</a:t>
            </a:r>
            <a:endParaRPr lang="en-US" sz="1000" dirty="0"/>
          </a:p>
        </p:txBody>
      </p:sp>
      <p:sp>
        <p:nvSpPr>
          <p:cNvPr id="12" name="Text 10"/>
          <p:cNvSpPr/>
          <p:nvPr/>
        </p:nvSpPr>
        <p:spPr>
          <a:xfrm>
            <a:off x="3840480" y="2029968"/>
            <a:ext cx="7772400" cy="822960"/>
          </a:xfrm>
          <a:prstGeom prst="rect">
            <a:avLst/>
          </a:prstGeom>
          <a:noFill/>
          <a:ln/>
        </p:spPr>
        <p:txBody>
          <a:bodyPr wrap="square" lIns="0" tIns="0" rIns="0" bIns="0" rtlCol="0" anchor="ctr"/>
          <a:lstStyle/>
          <a:p>
            <a:pPr algn="r" indent="0" marL="0">
              <a:buNone/>
            </a:pPr>
            <a:r>
              <a:rPr lang="en-US" sz="1400" dirty="0">
                <a:solidFill>
                  <a:srgbClr val="52525B"/>
                </a:solidFill>
                <a:latin typeface="Cairo" pitchFamily="34" charset="0"/>
                <a:ea typeface="Cairo" pitchFamily="34" charset="-122"/>
                <a:cs typeface="Cairo" pitchFamily="34" charset="-120"/>
              </a:rPr>
              <a:t>واجهة أمامية كاملة + تحقّق وهمي (mock).</a:t>
            </a:r>
            <a:endParaRPr lang="en-US" sz="1400" dirty="0"/>
          </a:p>
        </p:txBody>
      </p:sp>
      <p:sp>
        <p:nvSpPr>
          <p:cNvPr id="13" name="Shape 11"/>
          <p:cNvSpPr/>
          <p:nvPr/>
        </p:nvSpPr>
        <p:spPr>
          <a:xfrm>
            <a:off x="1115568" y="2871216"/>
            <a:ext cx="512064" cy="512064"/>
          </a:xfrm>
          <a:prstGeom prst="ellipse">
            <a:avLst/>
          </a:prstGeom>
          <a:solidFill>
            <a:srgbClr val="EA580C"/>
          </a:solidFill>
          <a:ln w="25400">
            <a:solidFill>
              <a:srgbClr val="FFFFFF"/>
            </a:solidFill>
            <a:prstDash val="solid"/>
          </a:ln>
        </p:spPr>
      </p:sp>
      <p:sp>
        <p:nvSpPr>
          <p:cNvPr id="14" name="Text 12"/>
          <p:cNvSpPr/>
          <p:nvPr/>
        </p:nvSpPr>
        <p:spPr>
          <a:xfrm>
            <a:off x="1115568" y="2871216"/>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1828800" y="2871216"/>
            <a:ext cx="1828800" cy="512064"/>
          </a:xfrm>
          <a:prstGeom prst="rect">
            <a:avLst/>
          </a:prstGeom>
          <a:noFill/>
          <a:ln/>
        </p:spPr>
        <p:txBody>
          <a:bodyPr wrap="square" lIns="0" tIns="0" rIns="0" bIns="0" rtlCol="0" anchor="ctr"/>
          <a:lstStyle/>
          <a:p>
            <a:pPr algn="r" indent="0" marL="0">
              <a:buNone/>
            </a:pPr>
            <a:r>
              <a:rPr lang="en-US" sz="1600" b="1" dirty="0">
                <a:solidFill>
                  <a:srgbClr val="18181B"/>
                </a:solidFill>
                <a:latin typeface="Cairo" pitchFamily="34" charset="0"/>
                <a:ea typeface="Cairo" pitchFamily="34" charset="-122"/>
                <a:cs typeface="Cairo" pitchFamily="34" charset="-120"/>
              </a:rPr>
              <a:t>قريباً</a:t>
            </a:r>
            <a:endParaRPr lang="en-US" sz="1600" dirty="0"/>
          </a:p>
        </p:txBody>
      </p:sp>
      <p:sp>
        <p:nvSpPr>
          <p:cNvPr id="16" name="Text 14"/>
          <p:cNvSpPr/>
          <p:nvPr/>
        </p:nvSpPr>
        <p:spPr>
          <a:xfrm>
            <a:off x="1828800" y="3291840"/>
            <a:ext cx="1828800" cy="274320"/>
          </a:xfrm>
          <a:prstGeom prst="rect">
            <a:avLst/>
          </a:prstGeom>
          <a:noFill/>
          <a:ln/>
        </p:spPr>
        <p:txBody>
          <a:bodyPr wrap="square" lIns="0" tIns="0" rIns="0" bIns="0" rtlCol="0" anchor="ctr"/>
          <a:lstStyle/>
          <a:p>
            <a:pPr algn="r" indent="0" marL="0">
              <a:buNone/>
            </a:pPr>
            <a:r>
              <a:rPr lang="en-US" sz="1000" spc="100" kern="0" dirty="0">
                <a:solidFill>
                  <a:srgbClr val="EA580C"/>
                </a:solidFill>
                <a:latin typeface="Calibri" pitchFamily="34" charset="0"/>
                <a:ea typeface="Calibri" pitchFamily="34" charset="-122"/>
                <a:cs typeface="Calibri" pitchFamily="34" charset="-120"/>
              </a:rPr>
              <a:t>SOON</a:t>
            </a:r>
            <a:endParaRPr lang="en-US" sz="1000" dirty="0"/>
          </a:p>
        </p:txBody>
      </p:sp>
      <p:sp>
        <p:nvSpPr>
          <p:cNvPr id="17" name="Text 15"/>
          <p:cNvSpPr/>
          <p:nvPr/>
        </p:nvSpPr>
        <p:spPr>
          <a:xfrm>
            <a:off x="3840480" y="2871216"/>
            <a:ext cx="7772400" cy="822960"/>
          </a:xfrm>
          <a:prstGeom prst="rect">
            <a:avLst/>
          </a:prstGeom>
          <a:noFill/>
          <a:ln/>
        </p:spPr>
        <p:txBody>
          <a:bodyPr wrap="square" lIns="0" tIns="0" rIns="0" bIns="0" rtlCol="0" anchor="ctr"/>
          <a:lstStyle/>
          <a:p>
            <a:pPr algn="r" indent="0" marL="0">
              <a:buNone/>
            </a:pPr>
            <a:r>
              <a:rPr lang="en-US" sz="1400" dirty="0">
                <a:solidFill>
                  <a:srgbClr val="52525B"/>
                </a:solidFill>
                <a:latin typeface="Cairo" pitchFamily="34" charset="0"/>
                <a:ea typeface="Cairo" pitchFamily="34" charset="-122"/>
                <a:cs typeface="Cairo" pitchFamily="34" charset="-120"/>
              </a:rPr>
              <a:t>ربط Laravel/MySQL بمصادقة حقيقية.</a:t>
            </a:r>
            <a:endParaRPr lang="en-US" sz="1400" dirty="0"/>
          </a:p>
        </p:txBody>
      </p:sp>
      <p:sp>
        <p:nvSpPr>
          <p:cNvPr id="18" name="Shape 16"/>
          <p:cNvSpPr/>
          <p:nvPr/>
        </p:nvSpPr>
        <p:spPr>
          <a:xfrm>
            <a:off x="1115568" y="3712464"/>
            <a:ext cx="512064" cy="512064"/>
          </a:xfrm>
          <a:prstGeom prst="ellipse">
            <a:avLst/>
          </a:prstGeom>
          <a:solidFill>
            <a:srgbClr val="FB923C"/>
          </a:solidFill>
          <a:ln w="25400">
            <a:solidFill>
              <a:srgbClr val="FFFFFF"/>
            </a:solidFill>
            <a:prstDash val="solid"/>
          </a:ln>
        </p:spPr>
      </p:sp>
      <p:sp>
        <p:nvSpPr>
          <p:cNvPr id="19" name="Text 17"/>
          <p:cNvSpPr/>
          <p:nvPr/>
        </p:nvSpPr>
        <p:spPr>
          <a:xfrm>
            <a:off x="1115568" y="3712464"/>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1828800" y="3712464"/>
            <a:ext cx="1828800" cy="512064"/>
          </a:xfrm>
          <a:prstGeom prst="rect">
            <a:avLst/>
          </a:prstGeom>
          <a:noFill/>
          <a:ln/>
        </p:spPr>
        <p:txBody>
          <a:bodyPr wrap="square" lIns="0" tIns="0" rIns="0" bIns="0" rtlCol="0" anchor="ctr"/>
          <a:lstStyle/>
          <a:p>
            <a:pPr algn="r" indent="0" marL="0">
              <a:buNone/>
            </a:pPr>
            <a:r>
              <a:rPr lang="en-US" sz="1600" b="1" dirty="0">
                <a:solidFill>
                  <a:srgbClr val="18181B"/>
                </a:solidFill>
                <a:latin typeface="Cairo" pitchFamily="34" charset="0"/>
                <a:ea typeface="Cairo" pitchFamily="34" charset="-122"/>
                <a:cs typeface="Cairo" pitchFamily="34" charset="-120"/>
              </a:rPr>
              <a:t>قريباً</a:t>
            </a:r>
            <a:endParaRPr lang="en-US" sz="1600" dirty="0"/>
          </a:p>
        </p:txBody>
      </p:sp>
      <p:sp>
        <p:nvSpPr>
          <p:cNvPr id="21" name="Text 19"/>
          <p:cNvSpPr/>
          <p:nvPr/>
        </p:nvSpPr>
        <p:spPr>
          <a:xfrm>
            <a:off x="1828800" y="4133088"/>
            <a:ext cx="1828800" cy="274320"/>
          </a:xfrm>
          <a:prstGeom prst="rect">
            <a:avLst/>
          </a:prstGeom>
          <a:noFill/>
          <a:ln/>
        </p:spPr>
        <p:txBody>
          <a:bodyPr wrap="square" lIns="0" tIns="0" rIns="0" bIns="0" rtlCol="0" anchor="ctr"/>
          <a:lstStyle/>
          <a:p>
            <a:pPr algn="r" indent="0" marL="0">
              <a:buNone/>
            </a:pPr>
            <a:r>
              <a:rPr lang="en-US" sz="1000" spc="100" kern="0" dirty="0">
                <a:solidFill>
                  <a:srgbClr val="EA580C"/>
                </a:solidFill>
                <a:latin typeface="Calibri" pitchFamily="34" charset="0"/>
                <a:ea typeface="Calibri" pitchFamily="34" charset="-122"/>
                <a:cs typeface="Calibri" pitchFamily="34" charset="-120"/>
              </a:rPr>
              <a:t>SOON</a:t>
            </a:r>
            <a:endParaRPr lang="en-US" sz="1000" dirty="0"/>
          </a:p>
        </p:txBody>
      </p:sp>
      <p:sp>
        <p:nvSpPr>
          <p:cNvPr id="22" name="Text 20"/>
          <p:cNvSpPr/>
          <p:nvPr/>
        </p:nvSpPr>
        <p:spPr>
          <a:xfrm>
            <a:off x="3840480" y="3712464"/>
            <a:ext cx="7772400" cy="822960"/>
          </a:xfrm>
          <a:prstGeom prst="rect">
            <a:avLst/>
          </a:prstGeom>
          <a:noFill/>
          <a:ln/>
        </p:spPr>
        <p:txBody>
          <a:bodyPr wrap="square" lIns="0" tIns="0" rIns="0" bIns="0" rtlCol="0" anchor="ctr"/>
          <a:lstStyle/>
          <a:p>
            <a:pPr algn="r" indent="0" marL="0">
              <a:buNone/>
            </a:pPr>
            <a:r>
              <a:rPr lang="en-US" sz="1400" dirty="0">
                <a:solidFill>
                  <a:srgbClr val="52525B"/>
                </a:solidFill>
                <a:latin typeface="Cairo" pitchFamily="34" charset="0"/>
                <a:ea typeface="Cairo" pitchFamily="34" charset="-122"/>
                <a:cs typeface="Cairo" pitchFamily="34" charset="-120"/>
              </a:rPr>
              <a:t>تصفّح المساحات + الفلاتر + الخرائط.</a:t>
            </a:r>
            <a:endParaRPr lang="en-US" sz="1400" dirty="0"/>
          </a:p>
        </p:txBody>
      </p:sp>
      <p:sp>
        <p:nvSpPr>
          <p:cNvPr id="23" name="Shape 21"/>
          <p:cNvSpPr/>
          <p:nvPr/>
        </p:nvSpPr>
        <p:spPr>
          <a:xfrm>
            <a:off x="1115568" y="4553712"/>
            <a:ext cx="512064" cy="512064"/>
          </a:xfrm>
          <a:prstGeom prst="ellipse">
            <a:avLst/>
          </a:prstGeom>
          <a:solidFill>
            <a:srgbClr val="EA580C"/>
          </a:solidFill>
          <a:ln w="25400">
            <a:solidFill>
              <a:srgbClr val="FFFFFF"/>
            </a:solidFill>
            <a:prstDash val="solid"/>
          </a:ln>
        </p:spPr>
      </p:sp>
      <p:sp>
        <p:nvSpPr>
          <p:cNvPr id="24" name="Text 22"/>
          <p:cNvSpPr/>
          <p:nvPr/>
        </p:nvSpPr>
        <p:spPr>
          <a:xfrm>
            <a:off x="1115568" y="455371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1828800" y="4553712"/>
            <a:ext cx="1828800" cy="512064"/>
          </a:xfrm>
          <a:prstGeom prst="rect">
            <a:avLst/>
          </a:prstGeom>
          <a:noFill/>
          <a:ln/>
        </p:spPr>
        <p:txBody>
          <a:bodyPr wrap="square" lIns="0" tIns="0" rIns="0" bIns="0" rtlCol="0" anchor="ctr"/>
          <a:lstStyle/>
          <a:p>
            <a:pPr algn="r" indent="0" marL="0">
              <a:buNone/>
            </a:pPr>
            <a:r>
              <a:rPr lang="en-US" sz="1600" b="1" dirty="0">
                <a:solidFill>
                  <a:srgbClr val="18181B"/>
                </a:solidFill>
                <a:latin typeface="Cairo" pitchFamily="34" charset="0"/>
                <a:ea typeface="Cairo" pitchFamily="34" charset="-122"/>
                <a:cs typeface="Cairo" pitchFamily="34" charset="-120"/>
              </a:rPr>
              <a:t>تالياً</a:t>
            </a:r>
            <a:endParaRPr lang="en-US" sz="1600" dirty="0"/>
          </a:p>
        </p:txBody>
      </p:sp>
      <p:sp>
        <p:nvSpPr>
          <p:cNvPr id="26" name="Text 24"/>
          <p:cNvSpPr/>
          <p:nvPr/>
        </p:nvSpPr>
        <p:spPr>
          <a:xfrm>
            <a:off x="1828800" y="4974336"/>
            <a:ext cx="1828800" cy="274320"/>
          </a:xfrm>
          <a:prstGeom prst="rect">
            <a:avLst/>
          </a:prstGeom>
          <a:noFill/>
          <a:ln/>
        </p:spPr>
        <p:txBody>
          <a:bodyPr wrap="square" lIns="0" tIns="0" rIns="0" bIns="0" rtlCol="0" anchor="ctr"/>
          <a:lstStyle/>
          <a:p>
            <a:pPr algn="r" indent="0" marL="0">
              <a:buNone/>
            </a:pPr>
            <a:r>
              <a:rPr lang="en-US" sz="1000" spc="100" kern="0" dirty="0">
                <a:solidFill>
                  <a:srgbClr val="EA580C"/>
                </a:solidFill>
                <a:latin typeface="Calibri" pitchFamily="34" charset="0"/>
                <a:ea typeface="Calibri" pitchFamily="34" charset="-122"/>
                <a:cs typeface="Calibri" pitchFamily="34" charset="-120"/>
              </a:rPr>
              <a:t>NEXT</a:t>
            </a:r>
            <a:endParaRPr lang="en-US" sz="1000" dirty="0"/>
          </a:p>
        </p:txBody>
      </p:sp>
      <p:sp>
        <p:nvSpPr>
          <p:cNvPr id="27" name="Text 25"/>
          <p:cNvSpPr/>
          <p:nvPr/>
        </p:nvSpPr>
        <p:spPr>
          <a:xfrm>
            <a:off x="3840480" y="4553712"/>
            <a:ext cx="7772400" cy="822960"/>
          </a:xfrm>
          <a:prstGeom prst="rect">
            <a:avLst/>
          </a:prstGeom>
          <a:noFill/>
          <a:ln/>
        </p:spPr>
        <p:txBody>
          <a:bodyPr wrap="square" lIns="0" tIns="0" rIns="0" bIns="0" rtlCol="0" anchor="ctr"/>
          <a:lstStyle/>
          <a:p>
            <a:pPr algn="r" indent="0" marL="0">
              <a:buNone/>
            </a:pPr>
            <a:r>
              <a:rPr lang="en-US" sz="1400" dirty="0">
                <a:solidFill>
                  <a:srgbClr val="52525B"/>
                </a:solidFill>
                <a:latin typeface="Cairo" pitchFamily="34" charset="0"/>
                <a:ea typeface="Cairo" pitchFamily="34" charset="-122"/>
                <a:cs typeface="Cairo" pitchFamily="34" charset="-120"/>
              </a:rPr>
              <a:t>لوحة تحكّم كاملة: حجوزاتك وإعداداتك.</a:t>
            </a:r>
            <a:endParaRPr lang="en-US" sz="1400" dirty="0"/>
          </a:p>
        </p:txBody>
      </p:sp>
      <p:sp>
        <p:nvSpPr>
          <p:cNvPr id="28" name="Shape 26"/>
          <p:cNvSpPr/>
          <p:nvPr/>
        </p:nvSpPr>
        <p:spPr>
          <a:xfrm>
            <a:off x="1115568" y="5394960"/>
            <a:ext cx="512064" cy="512064"/>
          </a:xfrm>
          <a:prstGeom prst="ellipse">
            <a:avLst/>
          </a:prstGeom>
          <a:solidFill>
            <a:srgbClr val="F97316"/>
          </a:solidFill>
          <a:ln w="25400">
            <a:solidFill>
              <a:srgbClr val="FFFFFF"/>
            </a:solidFill>
            <a:prstDash val="solid"/>
          </a:ln>
        </p:spPr>
      </p:sp>
      <p:sp>
        <p:nvSpPr>
          <p:cNvPr id="29" name="Text 27"/>
          <p:cNvSpPr/>
          <p:nvPr/>
        </p:nvSpPr>
        <p:spPr>
          <a:xfrm>
            <a:off x="1115568" y="539496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8"/>
          <p:cNvSpPr/>
          <p:nvPr/>
        </p:nvSpPr>
        <p:spPr>
          <a:xfrm>
            <a:off x="1828800" y="5394960"/>
            <a:ext cx="1828800" cy="512064"/>
          </a:xfrm>
          <a:prstGeom prst="rect">
            <a:avLst/>
          </a:prstGeom>
          <a:noFill/>
          <a:ln/>
        </p:spPr>
        <p:txBody>
          <a:bodyPr wrap="square" lIns="0" tIns="0" rIns="0" bIns="0" rtlCol="0" anchor="ctr"/>
          <a:lstStyle/>
          <a:p>
            <a:pPr algn="r" indent="0" marL="0">
              <a:buNone/>
            </a:pPr>
            <a:r>
              <a:rPr lang="en-US" sz="1600" b="1" dirty="0">
                <a:solidFill>
                  <a:srgbClr val="18181B"/>
                </a:solidFill>
                <a:latin typeface="Cairo" pitchFamily="34" charset="0"/>
                <a:ea typeface="Cairo" pitchFamily="34" charset="-122"/>
                <a:cs typeface="Cairo" pitchFamily="34" charset="-120"/>
              </a:rPr>
              <a:t>مستقبلاً</a:t>
            </a:r>
            <a:endParaRPr lang="en-US" sz="1600" dirty="0"/>
          </a:p>
        </p:txBody>
      </p:sp>
      <p:sp>
        <p:nvSpPr>
          <p:cNvPr id="31" name="Text 29"/>
          <p:cNvSpPr/>
          <p:nvPr/>
        </p:nvSpPr>
        <p:spPr>
          <a:xfrm>
            <a:off x="1828800" y="5815584"/>
            <a:ext cx="1828800" cy="274320"/>
          </a:xfrm>
          <a:prstGeom prst="rect">
            <a:avLst/>
          </a:prstGeom>
          <a:noFill/>
          <a:ln/>
        </p:spPr>
        <p:txBody>
          <a:bodyPr wrap="square" lIns="0" tIns="0" rIns="0" bIns="0" rtlCol="0" anchor="ctr"/>
          <a:lstStyle/>
          <a:p>
            <a:pPr algn="r" indent="0" marL="0">
              <a:buNone/>
            </a:pPr>
            <a:r>
              <a:rPr lang="en-US" sz="1000" spc="100" kern="0" dirty="0">
                <a:solidFill>
                  <a:srgbClr val="EA580C"/>
                </a:solidFill>
                <a:latin typeface="Calibri" pitchFamily="34" charset="0"/>
                <a:ea typeface="Calibri" pitchFamily="34" charset="-122"/>
                <a:cs typeface="Calibri" pitchFamily="34" charset="-120"/>
              </a:rPr>
              <a:t>FUTURE</a:t>
            </a:r>
            <a:endParaRPr lang="en-US" sz="1000" dirty="0"/>
          </a:p>
        </p:txBody>
      </p:sp>
      <p:sp>
        <p:nvSpPr>
          <p:cNvPr id="32" name="Text 30"/>
          <p:cNvSpPr/>
          <p:nvPr/>
        </p:nvSpPr>
        <p:spPr>
          <a:xfrm>
            <a:off x="3840480" y="5394960"/>
            <a:ext cx="7772400" cy="822960"/>
          </a:xfrm>
          <a:prstGeom prst="rect">
            <a:avLst/>
          </a:prstGeom>
          <a:noFill/>
          <a:ln/>
        </p:spPr>
        <p:txBody>
          <a:bodyPr wrap="square" lIns="0" tIns="0" rIns="0" bIns="0" rtlCol="0" anchor="ctr"/>
          <a:lstStyle/>
          <a:p>
            <a:pPr algn="r" indent="0" marL="0">
              <a:buNone/>
            </a:pPr>
            <a:r>
              <a:rPr lang="en-US" sz="1400" dirty="0">
                <a:solidFill>
                  <a:srgbClr val="52525B"/>
                </a:solidFill>
                <a:latin typeface="Cairo" pitchFamily="34" charset="0"/>
                <a:ea typeface="Cairo" pitchFamily="34" charset="-122"/>
                <a:cs typeface="Cairo" pitchFamily="34" charset="-120"/>
              </a:rPr>
              <a:t>الدفع الإلكتروني وحجز المقاعد الحي.</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8961120" y="3840480"/>
            <a:ext cx="6400800" cy="6400800"/>
          </a:xfrm>
          <a:prstGeom prst="ellipse">
            <a:avLst/>
          </a:prstGeom>
          <a:solidFill>
            <a:srgbClr val="F97316">
              <a:alpha val="12000"/>
            </a:srgbClr>
          </a:solidFill>
          <a:ln/>
        </p:spPr>
      </p:sp>
      <p:sp>
        <p:nvSpPr>
          <p:cNvPr id="3" name="Shape 1"/>
          <p:cNvSpPr/>
          <p:nvPr/>
        </p:nvSpPr>
        <p:spPr>
          <a:xfrm>
            <a:off x="-2194560" y="-2377440"/>
            <a:ext cx="5486400" cy="5486400"/>
          </a:xfrm>
          <a:prstGeom prst="ellipse">
            <a:avLst/>
          </a:prstGeom>
          <a:solidFill>
            <a:srgbClr val="EA580C">
              <a:alpha val="10000"/>
            </a:srgbClr>
          </a:solidFill>
          <a:ln/>
        </p:spPr>
      </p:sp>
      <p:sp>
        <p:nvSpPr>
          <p:cNvPr id="4" name="Shape 2"/>
          <p:cNvSpPr/>
          <p:nvPr/>
        </p:nvSpPr>
        <p:spPr>
          <a:xfrm>
            <a:off x="0" y="0"/>
            <a:ext cx="201168" cy="6858000"/>
          </a:xfrm>
          <a:prstGeom prst="rect">
            <a:avLst/>
          </a:prstGeom>
          <a:solidFill>
            <a:srgbClr val="F97316"/>
          </a:solidFill>
          <a:ln/>
        </p:spPr>
      </p:sp>
      <p:sp>
        <p:nvSpPr>
          <p:cNvPr id="5" name="Text 3"/>
          <p:cNvSpPr/>
          <p:nvPr/>
        </p:nvSpPr>
        <p:spPr>
          <a:xfrm>
            <a:off x="822960" y="2011680"/>
            <a:ext cx="10515600" cy="1097280"/>
          </a:xfrm>
          <a:prstGeom prst="rect">
            <a:avLst/>
          </a:prstGeom>
          <a:noFill/>
          <a:ln/>
        </p:spPr>
        <p:txBody>
          <a:bodyPr wrap="square" lIns="0" tIns="0" rIns="0" bIns="0" rtlCol="0" anchor="ctr"/>
          <a:lstStyle/>
          <a:p>
            <a:pPr algn="r" indent="0" marL="0">
              <a:buNone/>
            </a:pPr>
            <a:r>
              <a:rPr lang="en-US" sz="5600" b="1" dirty="0">
                <a:solidFill>
                  <a:srgbClr val="FFFFFF"/>
                </a:solidFill>
                <a:latin typeface="Cairo" pitchFamily="34" charset="0"/>
                <a:ea typeface="Cairo" pitchFamily="34" charset="-122"/>
                <a:cs typeface="Cairo" pitchFamily="34" charset="-120"/>
              </a:rPr>
              <a:t>شكراً</a:t>
            </a:r>
            <a:endParaRPr lang="en-US" sz="5600" dirty="0"/>
          </a:p>
        </p:txBody>
      </p:sp>
      <p:sp>
        <p:nvSpPr>
          <p:cNvPr id="6" name="Text 4"/>
          <p:cNvSpPr/>
          <p:nvPr/>
        </p:nvSpPr>
        <p:spPr>
          <a:xfrm>
            <a:off x="822960" y="3063240"/>
            <a:ext cx="10515600" cy="457200"/>
          </a:xfrm>
          <a:prstGeom prst="rect">
            <a:avLst/>
          </a:prstGeom>
          <a:noFill/>
          <a:ln/>
        </p:spPr>
        <p:txBody>
          <a:bodyPr wrap="square" lIns="0" tIns="0" rIns="0" bIns="0" rtlCol="0" anchor="ctr"/>
          <a:lstStyle/>
          <a:p>
            <a:pPr algn="r" indent="0" marL="0">
              <a:buNone/>
            </a:pPr>
            <a:r>
              <a:rPr lang="en-US" sz="1600" i="1" dirty="0">
                <a:solidFill>
                  <a:srgbClr val="C0C0C0"/>
                </a:solidFill>
                <a:latin typeface="Calibri" pitchFamily="34" charset="0"/>
                <a:ea typeface="Calibri" pitchFamily="34" charset="-122"/>
                <a:cs typeface="Calibri" pitchFamily="34" charset="-120"/>
              </a:rPr>
              <a:t>Thank you — to our supervisors &amp; fellow students</a:t>
            </a:r>
            <a:endParaRPr lang="en-US" sz="1600" dirty="0"/>
          </a:p>
        </p:txBody>
      </p:sp>
      <p:sp>
        <p:nvSpPr>
          <p:cNvPr id="7" name="Shape 5"/>
          <p:cNvSpPr/>
          <p:nvPr/>
        </p:nvSpPr>
        <p:spPr>
          <a:xfrm>
            <a:off x="868680" y="3749040"/>
            <a:ext cx="3840480" cy="0"/>
          </a:xfrm>
          <a:prstGeom prst="line">
            <a:avLst/>
          </a:prstGeom>
          <a:noFill/>
          <a:ln w="25400">
            <a:solidFill>
              <a:srgbClr val="F97316"/>
            </a:solidFill>
            <a:prstDash val="solid"/>
          </a:ln>
        </p:spPr>
      </p:sp>
      <p:sp>
        <p:nvSpPr>
          <p:cNvPr id="8" name="Text 6"/>
          <p:cNvSpPr/>
          <p:nvPr/>
        </p:nvSpPr>
        <p:spPr>
          <a:xfrm>
            <a:off x="822960" y="3977640"/>
            <a:ext cx="10515600" cy="1463040"/>
          </a:xfrm>
          <a:prstGeom prst="rect">
            <a:avLst/>
          </a:prstGeom>
          <a:noFill/>
          <a:ln/>
        </p:spPr>
        <p:txBody>
          <a:bodyPr wrap="square" lIns="0" tIns="0" rIns="0" bIns="0" rtlCol="0" anchor="ctr"/>
          <a:lstStyle/>
          <a:p>
            <a:pPr algn="r" indent="0" marL="0">
              <a:lnSpc>
                <a:spcPct val="130000"/>
              </a:lnSpc>
              <a:buNone/>
            </a:pPr>
            <a:r>
              <a:rPr lang="en-US" sz="1600" dirty="0">
                <a:solidFill>
                  <a:srgbClr val="FFFFFF"/>
                </a:solidFill>
                <a:latin typeface="Cairo" pitchFamily="34" charset="0"/>
                <a:ea typeface="Cairo" pitchFamily="34" charset="-122"/>
                <a:cs typeface="Cairo" pitchFamily="34" charset="-120"/>
              </a:rPr>
              <a:t>جاهز للتجربة الآن — ابدأ من الصفحة الرئيسية.</a:t>
            </a:r>
            <a:endParaRPr lang="en-US" sz="1600" dirty="0"/>
          </a:p>
          <a:p>
            <a:pPr algn="r" indent="0" marL="0">
              <a:lnSpc>
                <a:spcPct val="130000"/>
              </a:lnSpc>
              <a:buNone/>
            </a:pPr>
            <a:r>
              <a:rPr lang="en-US" sz="1400" dirty="0">
                <a:solidFill>
                  <a:srgbClr val="F97316"/>
                </a:solidFill>
                <a:latin typeface="Calibri" pitchFamily="34" charset="0"/>
                <a:ea typeface="Calibri" pitchFamily="34" charset="-122"/>
                <a:cs typeface="Calibri" pitchFamily="34" charset="-120"/>
              </a:rPr>
              <a:t>تواصل واتساب: +972 56 765 3009</a:t>
            </a:r>
            <a:endParaRPr lang="en-US" sz="1600" dirty="0"/>
          </a:p>
          <a:p>
            <a:pPr algn="r" indent="0" marL="0">
              <a:lnSpc>
                <a:spcPct val="130000"/>
              </a:lnSpc>
              <a:buNone/>
            </a:pPr>
            <a:r>
              <a:rPr lang="en-US" sz="1200" dirty="0">
                <a:solidFill>
                  <a:srgbClr val="9A9A9A"/>
                </a:solidFill>
                <a:latin typeface="Cairo" pitchFamily="34" charset="0"/>
                <a:ea typeface="Cairo" pitchFamily="34" charset="-122"/>
                <a:cs typeface="Cairo" pitchFamily="34" charset="-120"/>
              </a:rPr>
              <a:t>مساحاتي | Masahati — منصّة مساحات العمل المشتركة في غزة</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Masahati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Masahati — Platform for Shared Workspaces in Gaza</dc:title>
  <dc:subject>PptxGenJS Presentation</dc:subject>
  <dc:creator>Masahati Team</dc:creator>
  <cp:lastModifiedBy>Masahati Team</cp:lastModifiedBy>
  <cp:revision>1</cp:revision>
  <dcterms:created xsi:type="dcterms:W3CDTF">2026-08-19T21:26:04Z</dcterms:created>
  <dcterms:modified xsi:type="dcterms:W3CDTF">2026-08-19T21:26:04Z</dcterms:modified>
</cp:coreProperties>
</file>